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736" r:id="rId2"/>
    <p:sldMasterId id="2147483739" r:id="rId3"/>
    <p:sldMasterId id="2147483754" r:id="rId4"/>
    <p:sldMasterId id="2147483767" r:id="rId5"/>
    <p:sldMasterId id="2147483769" r:id="rId6"/>
  </p:sldMasterIdLst>
  <p:notesMasterIdLst>
    <p:notesMasterId r:id="rId44"/>
  </p:notesMasterIdLst>
  <p:sldIdLst>
    <p:sldId id="256" r:id="rId7"/>
    <p:sldId id="257" r:id="rId8"/>
    <p:sldId id="258" r:id="rId9"/>
    <p:sldId id="265" r:id="rId10"/>
    <p:sldId id="259" r:id="rId11"/>
    <p:sldId id="275" r:id="rId12"/>
    <p:sldId id="276" r:id="rId13"/>
    <p:sldId id="277" r:id="rId14"/>
    <p:sldId id="278" r:id="rId15"/>
    <p:sldId id="279" r:id="rId16"/>
    <p:sldId id="284" r:id="rId17"/>
    <p:sldId id="267" r:id="rId18"/>
    <p:sldId id="283" r:id="rId19"/>
    <p:sldId id="281" r:id="rId20"/>
    <p:sldId id="285" r:id="rId21"/>
    <p:sldId id="287" r:id="rId22"/>
    <p:sldId id="288" r:id="rId23"/>
    <p:sldId id="273" r:id="rId24"/>
    <p:sldId id="274" r:id="rId25"/>
    <p:sldId id="286" r:id="rId26"/>
    <p:sldId id="269" r:id="rId27"/>
    <p:sldId id="282" r:id="rId28"/>
    <p:sldId id="270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7" r:id="rId37"/>
    <p:sldId id="271" r:id="rId38"/>
    <p:sldId id="296" r:id="rId39"/>
    <p:sldId id="298" r:id="rId40"/>
    <p:sldId id="264" r:id="rId41"/>
    <p:sldId id="280" r:id="rId42"/>
    <p:sldId id="263" r:id="rId43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21" autoAdjust="0"/>
  </p:normalViewPr>
  <p:slideViewPr>
    <p:cSldViewPr>
      <p:cViewPr>
        <p:scale>
          <a:sx n="120" d="100"/>
          <a:sy n="120" d="100"/>
        </p:scale>
        <p:origin x="-370" y="1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0442C-2FB1-4A64-9ED0-5ED0E5F11296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CDAEB-C914-41FB-BEED-34C34DB2D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35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402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91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://bit.ly/2Tynxth" TargetMode="Externa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 cstate="print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87850" y="2102909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87800" y="929450"/>
            <a:ext cx="2768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87850" y="347531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-6080572">
            <a:off x="7357825" y="-650032"/>
            <a:ext cx="1859881" cy="202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8;p5"/>
          <p:cNvGrpSpPr/>
          <p:nvPr/>
        </p:nvGrpSpPr>
        <p:grpSpPr>
          <a:xfrm>
            <a:off x="-2736154" y="-2532646"/>
            <a:ext cx="9665434" cy="12031040"/>
            <a:chOff x="-2736154" y="-2532646"/>
            <a:chExt cx="9665434" cy="12031040"/>
          </a:xfrm>
        </p:grpSpPr>
        <p:pic>
          <p:nvPicPr>
            <p:cNvPr id="29" name="Google Shape;29;p5"/>
            <p:cNvPicPr preferRelativeResize="0"/>
            <p:nvPr/>
          </p:nvPicPr>
          <p:blipFill>
            <a:blip r:embed="rId3" cstate="print">
              <a:alphaModFix/>
            </a:blip>
            <a:stretch>
              <a:fillRect/>
            </a:stretch>
          </p:blipFill>
          <p:spPr>
            <a:xfrm rot="6384532">
              <a:off x="-1809626" y="-2542696"/>
              <a:ext cx="3232319" cy="4349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>
            <a:blip r:embed="rId4" cstate="print">
              <a:alphaModFix amt="18000"/>
            </a:blip>
            <a:stretch>
              <a:fillRect/>
            </a:stretch>
          </p:blipFill>
          <p:spPr>
            <a:xfrm rot="10799995">
              <a:off x="2645630" y="2857270"/>
              <a:ext cx="4283650" cy="66411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290763" y="2337704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45638" y="2337688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290775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45650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39;p6"/>
          <p:cNvGrpSpPr/>
          <p:nvPr/>
        </p:nvGrpSpPr>
        <p:grpSpPr>
          <a:xfrm>
            <a:off x="50600" y="-1177774"/>
            <a:ext cx="9637306" cy="2466454"/>
            <a:chOff x="50600" y="-1177774"/>
            <a:chExt cx="9637306" cy="2466454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50600" y="-1177774"/>
              <a:ext cx="2253752" cy="222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4" cstate="print">
              <a:alphaModFix amt="26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 cstate="print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;p8"/>
          <p:cNvGrpSpPr/>
          <p:nvPr/>
        </p:nvGrpSpPr>
        <p:grpSpPr>
          <a:xfrm>
            <a:off x="-1326274" y="222183"/>
            <a:ext cx="11453645" cy="6483616"/>
            <a:chOff x="-1326274" y="222183"/>
            <a:chExt cx="11453645" cy="6483616"/>
          </a:xfrm>
        </p:grpSpPr>
        <p:pic>
          <p:nvPicPr>
            <p:cNvPr id="50" name="Google Shape;50;p8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5" cstate="print">
              <a:alphaModFix/>
            </a:blip>
            <a:stretch>
              <a:fillRect/>
            </a:stretch>
          </p:blipFill>
          <p:spPr>
            <a:xfrm rot="-626902">
              <a:off x="-1012802" y="2777516"/>
              <a:ext cx="2756456" cy="3709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>
            <a:blip r:embed="rId6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9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 flipH="1">
            <a:off x="5176550" y="1294100"/>
            <a:ext cx="3252300" cy="121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 flipH="1">
            <a:off x="5176550" y="2664600"/>
            <a:ext cx="32523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307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20000" y="3883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3" cstate="print">
            <a:alphaModFix amt="48000"/>
          </a:blip>
          <a:stretch>
            <a:fillRect/>
          </a:stretch>
        </p:blipFill>
        <p:spPr>
          <a:xfrm rot="4861616">
            <a:off x="2643919" y="-1295605"/>
            <a:ext cx="3574490" cy="75703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6885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284000" y="35533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71;p13"/>
          <p:cNvGrpSpPr/>
          <p:nvPr/>
        </p:nvGrpSpPr>
        <p:grpSpPr>
          <a:xfrm>
            <a:off x="-891002" y="-1228775"/>
            <a:ext cx="10578908" cy="2929874"/>
            <a:chOff x="-891002" y="-1228775"/>
            <a:chExt cx="10578908" cy="2929874"/>
          </a:xfrm>
        </p:grpSpPr>
        <p:pic>
          <p:nvPicPr>
            <p:cNvPr id="72" name="Google Shape;72;p13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/>
          </p:nvPr>
        </p:nvSpPr>
        <p:spPr>
          <a:xfrm>
            <a:off x="7200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2505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200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34038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34038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/>
          </p:nvPr>
        </p:nvSpPr>
        <p:spPr>
          <a:xfrm>
            <a:off x="60876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0876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/>
          </p:nvPr>
        </p:nvSpPr>
        <p:spPr>
          <a:xfrm>
            <a:off x="7200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7200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/>
          </p:nvPr>
        </p:nvSpPr>
        <p:spPr>
          <a:xfrm>
            <a:off x="34038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8"/>
          </p:nvPr>
        </p:nvSpPr>
        <p:spPr>
          <a:xfrm>
            <a:off x="34038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/>
          </p:nvPr>
        </p:nvSpPr>
        <p:spPr>
          <a:xfrm>
            <a:off x="60876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1"/>
          </p:nvPr>
        </p:nvSpPr>
        <p:spPr>
          <a:xfrm>
            <a:off x="60876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5;p14"/>
          <p:cNvGrpSpPr/>
          <p:nvPr/>
        </p:nvGrpSpPr>
        <p:grpSpPr>
          <a:xfrm rot="10800000" flipH="1">
            <a:off x="-1002602" y="2626046"/>
            <a:ext cx="10690508" cy="3876129"/>
            <a:chOff x="-1002602" y="-2587450"/>
            <a:chExt cx="10690508" cy="3876129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02602" y="-258745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4" cstate="print">
              <a:alphaModFix amt="31000"/>
            </a:blip>
            <a:srcRect l="-115660" t="-15070" r="115660" b="15069"/>
            <a:stretch/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2117188"/>
            <a:ext cx="23364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2"/>
          </p:nvPr>
        </p:nvSpPr>
        <p:spPr>
          <a:xfrm>
            <a:off x="3980038" y="1027588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3" hasCustomPrompt="1"/>
          </p:nvPr>
        </p:nvSpPr>
        <p:spPr>
          <a:xfrm>
            <a:off x="3093426" y="10275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6216076" y="1027588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4"/>
          </p:nvPr>
        </p:nvSpPr>
        <p:spPr>
          <a:xfrm>
            <a:off x="3980038" y="2354195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5" hasCustomPrompt="1"/>
          </p:nvPr>
        </p:nvSpPr>
        <p:spPr>
          <a:xfrm>
            <a:off x="3093434" y="23541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6"/>
          </p:nvPr>
        </p:nvSpPr>
        <p:spPr>
          <a:xfrm>
            <a:off x="6216076" y="2354195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7"/>
          </p:nvPr>
        </p:nvSpPr>
        <p:spPr>
          <a:xfrm>
            <a:off x="3980038" y="3555390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8" hasCustomPrompt="1"/>
          </p:nvPr>
        </p:nvSpPr>
        <p:spPr>
          <a:xfrm>
            <a:off x="3091425" y="35553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9"/>
          </p:nvPr>
        </p:nvSpPr>
        <p:spPr>
          <a:xfrm>
            <a:off x="6216076" y="3555390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10;p15"/>
          <p:cNvGrpSpPr/>
          <p:nvPr/>
        </p:nvGrpSpPr>
        <p:grpSpPr>
          <a:xfrm flipH="1">
            <a:off x="-1390802" y="299725"/>
            <a:ext cx="11262196" cy="4113879"/>
            <a:chOff x="-1074490" y="299725"/>
            <a:chExt cx="11262196" cy="4113879"/>
          </a:xfrm>
        </p:grpSpPr>
        <p:pic>
          <p:nvPicPr>
            <p:cNvPr id="111" name="Google Shape;111;p15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74490" y="2997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965524" y="200285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 idx="2"/>
          </p:nvPr>
        </p:nvSpPr>
        <p:spPr>
          <a:xfrm>
            <a:off x="18883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 idx="3" hasCustomPrompt="1"/>
          </p:nvPr>
        </p:nvSpPr>
        <p:spPr>
          <a:xfrm>
            <a:off x="24189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18883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4"/>
          </p:nvPr>
        </p:nvSpPr>
        <p:spPr>
          <a:xfrm>
            <a:off x="45721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5" hasCustomPrompt="1"/>
          </p:nvPr>
        </p:nvSpPr>
        <p:spPr>
          <a:xfrm>
            <a:off x="51027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6"/>
          </p:nvPr>
        </p:nvSpPr>
        <p:spPr>
          <a:xfrm>
            <a:off x="45721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7"/>
          </p:nvPr>
        </p:nvSpPr>
        <p:spPr>
          <a:xfrm>
            <a:off x="18883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8" hasCustomPrompt="1"/>
          </p:nvPr>
        </p:nvSpPr>
        <p:spPr>
          <a:xfrm>
            <a:off x="24189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9"/>
          </p:nvPr>
        </p:nvSpPr>
        <p:spPr>
          <a:xfrm>
            <a:off x="18883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13"/>
          </p:nvPr>
        </p:nvSpPr>
        <p:spPr>
          <a:xfrm>
            <a:off x="45721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14" hasCustomPrompt="1"/>
          </p:nvPr>
        </p:nvSpPr>
        <p:spPr>
          <a:xfrm>
            <a:off x="51027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5"/>
          </p:nvPr>
        </p:nvSpPr>
        <p:spPr>
          <a:xfrm>
            <a:off x="45721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-939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 flipH="1">
            <a:off x="2132450" y="1482875"/>
            <a:ext cx="4978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1"/>
          </p:nvPr>
        </p:nvSpPr>
        <p:spPr>
          <a:xfrm flipH="1">
            <a:off x="2132450" y="2389840"/>
            <a:ext cx="49785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34;p17"/>
          <p:cNvGrpSpPr/>
          <p:nvPr/>
        </p:nvGrpSpPr>
        <p:grpSpPr>
          <a:xfrm>
            <a:off x="0" y="-805349"/>
            <a:ext cx="9763800" cy="7934649"/>
            <a:chOff x="0" y="-805349"/>
            <a:chExt cx="9763800" cy="7934649"/>
          </a:xfrm>
        </p:grpSpPr>
        <p:pic>
          <p:nvPicPr>
            <p:cNvPr id="135" name="Google Shape;135;p17"/>
            <p:cNvPicPr preferRelativeResize="0"/>
            <p:nvPr/>
          </p:nvPicPr>
          <p:blipFill>
            <a:blip r:embed="rId3" cstate="print">
              <a:alphaModFix amt="21000"/>
            </a:blip>
            <a:stretch>
              <a:fillRect/>
            </a:stretch>
          </p:blipFill>
          <p:spPr>
            <a:xfrm rot="-5400000">
              <a:off x="-2349749" y="2349750"/>
              <a:ext cx="7129298" cy="2429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/>
            <p:cNvPicPr preferRelativeResize="0"/>
            <p:nvPr/>
          </p:nvPicPr>
          <p:blipFill>
            <a:blip r:embed="rId4" cstate="print">
              <a:alphaModFix amt="40000"/>
            </a:blip>
            <a:stretch>
              <a:fillRect/>
            </a:stretch>
          </p:blipFill>
          <p:spPr>
            <a:xfrm>
              <a:off x="7439551" y="-805349"/>
              <a:ext cx="2324250" cy="22947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 cstate="print">
            <a:alphaModFix amt="60000"/>
          </a:blip>
          <a:stretch>
            <a:fillRect/>
          </a:stretch>
        </p:blipFill>
        <p:spPr>
          <a:xfrm>
            <a:off x="-1029327" y="3181250"/>
            <a:ext cx="2881223" cy="29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 cstate="print">
            <a:alphaModFix/>
          </a:blip>
          <a:stretch>
            <a:fillRect/>
          </a:stretch>
        </p:blipFill>
        <p:spPr>
          <a:xfrm rot="9116214">
            <a:off x="7511526" y="565727"/>
            <a:ext cx="2981601" cy="401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44;p19"/>
          <p:cNvGrpSpPr/>
          <p:nvPr/>
        </p:nvGrpSpPr>
        <p:grpSpPr>
          <a:xfrm>
            <a:off x="-576577" y="-1474725"/>
            <a:ext cx="10363825" cy="2929874"/>
            <a:chOff x="-576577" y="-1227375"/>
            <a:chExt cx="10363825" cy="2929874"/>
          </a:xfrm>
        </p:grpSpPr>
        <p:pic>
          <p:nvPicPr>
            <p:cNvPr id="145" name="Google Shape;145;p19"/>
            <p:cNvPicPr preferRelativeResize="0"/>
            <p:nvPr/>
          </p:nvPicPr>
          <p:blipFill>
            <a:blip r:embed="rId3" cstate="print">
              <a:alphaModFix amt="52000"/>
            </a:blip>
            <a:stretch>
              <a:fillRect/>
            </a:stretch>
          </p:blipFill>
          <p:spPr>
            <a:xfrm flipH="1">
              <a:off x="7474223" y="-1184322"/>
              <a:ext cx="2313025" cy="251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9"/>
            <p:cNvPicPr preferRelativeResize="0"/>
            <p:nvPr/>
          </p:nvPicPr>
          <p:blipFill>
            <a:blip r:embed="rId4" cstate="print">
              <a:alphaModFix amt="57000"/>
            </a:blip>
            <a:stretch>
              <a:fillRect/>
            </a:stretch>
          </p:blipFill>
          <p:spPr>
            <a:xfrm>
              <a:off x="-576577" y="-12273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1;p20"/>
          <p:cNvGrpSpPr/>
          <p:nvPr/>
        </p:nvGrpSpPr>
        <p:grpSpPr>
          <a:xfrm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152" name="Google Shape;152;p2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 cstate="print">
              <a:alphaModFix amt="47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7;p21"/>
          <p:cNvGrpSpPr/>
          <p:nvPr/>
        </p:nvGrpSpPr>
        <p:grpSpPr>
          <a:xfrm>
            <a:off x="-2260370" y="-3743099"/>
            <a:ext cx="14611870" cy="7885148"/>
            <a:chOff x="-2459845" y="-4046299"/>
            <a:chExt cx="14611870" cy="7885148"/>
          </a:xfrm>
        </p:grpSpPr>
        <p:pic>
          <p:nvPicPr>
            <p:cNvPr id="158" name="Google Shape;158;p21"/>
            <p:cNvPicPr preferRelativeResize="0"/>
            <p:nvPr/>
          </p:nvPicPr>
          <p:blipFill>
            <a:blip r:embed="rId3" cstate="print">
              <a:alphaModFix amt="32000"/>
            </a:blip>
            <a:stretch>
              <a:fillRect/>
            </a:stretch>
          </p:blipFill>
          <p:spPr>
            <a:xfrm rot="-10558877">
              <a:off x="-2298947" y="-1597926"/>
              <a:ext cx="3030302" cy="46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1"/>
            <p:cNvPicPr preferRelativeResize="0"/>
            <p:nvPr/>
          </p:nvPicPr>
          <p:blipFill>
            <a:blip r:embed="rId4" cstate="print">
              <a:alphaModFix amt="50000"/>
            </a:blip>
            <a:stretch>
              <a:fillRect/>
            </a:stretch>
          </p:blipFill>
          <p:spPr>
            <a:xfrm>
              <a:off x="8428901" y="-40462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237673" y="1775425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2" hasCustomPrompt="1"/>
          </p:nvPr>
        </p:nvSpPr>
        <p:spPr>
          <a:xfrm>
            <a:off x="2474011" y="1592863"/>
            <a:ext cx="2112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4237673" y="314953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 cstate="print">
            <a:alphaModFix amt="49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7"/>
            <a:ext cx="9144003" cy="609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4" cstate="print">
            <a:alphaModFix amt="44000"/>
          </a:blip>
          <a:stretch>
            <a:fillRect/>
          </a:stretch>
        </p:blipFill>
        <p:spPr>
          <a:xfrm>
            <a:off x="-844998" y="-1237050"/>
            <a:ext cx="4705600" cy="4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87557" y="1850495"/>
            <a:ext cx="29718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 hasCustomPrompt="1"/>
          </p:nvPr>
        </p:nvSpPr>
        <p:spPr>
          <a:xfrm>
            <a:off x="5091347" y="1436750"/>
            <a:ext cx="2165100" cy="18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1"/>
          </p:nvPr>
        </p:nvSpPr>
        <p:spPr>
          <a:xfrm>
            <a:off x="1892557" y="3192962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80;p25"/>
          <p:cNvGrpSpPr/>
          <p:nvPr/>
        </p:nvGrpSpPr>
        <p:grpSpPr>
          <a:xfrm>
            <a:off x="7353187" y="285158"/>
            <a:ext cx="1435761" cy="1460042"/>
            <a:chOff x="557362" y="374583"/>
            <a:chExt cx="1435761" cy="1460042"/>
          </a:xfrm>
        </p:grpSpPr>
        <p:pic>
          <p:nvPicPr>
            <p:cNvPr id="181" name="Google Shape;181;p25"/>
            <p:cNvPicPr preferRelativeResize="0"/>
            <p:nvPr/>
          </p:nvPicPr>
          <p:blipFill>
            <a:blip r:embed="rId4" cstate="print">
              <a:alphaModFix amt="49000"/>
            </a:blip>
            <a:stretch>
              <a:fillRect/>
            </a:stretch>
          </p:blipFill>
          <p:spPr>
            <a:xfrm>
              <a:off x="715100" y="5350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5"/>
            <p:cNvPicPr preferRelativeResize="0"/>
            <p:nvPr/>
          </p:nvPicPr>
          <p:blipFill>
            <a:blip r:embed="rId5" cstate="print">
              <a:alphaModFix amt="44000"/>
            </a:blip>
            <a:stretch>
              <a:fillRect/>
            </a:stretch>
          </p:blipFill>
          <p:spPr>
            <a:xfrm flipH="1">
              <a:off x="557362" y="3745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655850" y="1107700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500" y="314725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3187750" y="2483994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992510" y="1565802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 idx="2" hasCustomPrompt="1"/>
          </p:nvPr>
        </p:nvSpPr>
        <p:spPr>
          <a:xfrm>
            <a:off x="2265764" y="151451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3992510" y="2929678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4;p27"/>
          <p:cNvGrpSpPr/>
          <p:nvPr/>
        </p:nvGrpSpPr>
        <p:grpSpPr>
          <a:xfrm>
            <a:off x="-663524" y="-279925"/>
            <a:ext cx="5639853" cy="7085221"/>
            <a:chOff x="-663524" y="-279925"/>
            <a:chExt cx="5639853" cy="7085221"/>
          </a:xfrm>
        </p:grpSpPr>
        <p:pic>
          <p:nvPicPr>
            <p:cNvPr id="195" name="Google Shape;195;p27"/>
            <p:cNvPicPr preferRelativeResize="0"/>
            <p:nvPr/>
          </p:nvPicPr>
          <p:blipFill>
            <a:blip r:embed="rId3" cstate="print">
              <a:alphaModFix amt="26000"/>
            </a:blip>
            <a:stretch>
              <a:fillRect/>
            </a:stretch>
          </p:blipFill>
          <p:spPr>
            <a:xfrm rot="8851044" flipH="1">
              <a:off x="905324" y="16405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7"/>
            <p:cNvPicPr preferRelativeResize="0"/>
            <p:nvPr/>
          </p:nvPicPr>
          <p:blipFill>
            <a:blip r:embed="rId4" cstate="print">
              <a:alphaModFix amt="37000"/>
            </a:blip>
            <a:stretch>
              <a:fillRect/>
            </a:stretch>
          </p:blipFill>
          <p:spPr>
            <a:xfrm>
              <a:off x="1578325" y="-229924"/>
              <a:ext cx="660099" cy="671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7"/>
            <p:cNvPicPr preferRelativeResize="0"/>
            <p:nvPr/>
          </p:nvPicPr>
          <p:blipFill>
            <a:blip r:embed="rId5" cstate="print">
              <a:alphaModFix amt="33000"/>
            </a:blip>
            <a:stretch>
              <a:fillRect/>
            </a:stretch>
          </p:blipFill>
          <p:spPr>
            <a:xfrm flipH="1">
              <a:off x="-663524" y="-279925"/>
              <a:ext cx="1947024" cy="1980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1976457" y="1562421"/>
            <a:ext cx="31509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2" hasCustomPrompt="1"/>
          </p:nvPr>
        </p:nvSpPr>
        <p:spPr>
          <a:xfrm>
            <a:off x="3748582" y="1549507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2155557" y="2933311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865000" y="357532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462250" y="1347275"/>
            <a:ext cx="5967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 cstate="print">
            <a:alphaModFix amt="21000"/>
          </a:blip>
          <a:stretch>
            <a:fillRect/>
          </a:stretch>
        </p:blipFill>
        <p:spPr>
          <a:xfrm rot="1586418">
            <a:off x="-764950" y="60749"/>
            <a:ext cx="3165078" cy="490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8;p29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209" name="Google Shape;209;p29"/>
            <p:cNvPicPr preferRelativeResize="0"/>
            <p:nvPr/>
          </p:nvPicPr>
          <p:blipFill>
            <a:blip r:embed="rId3" cstate="print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3" cstate="print">
            <a:alphaModFix amt="17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subTitle" idx="1"/>
          </p:nvPr>
        </p:nvSpPr>
        <p:spPr>
          <a:xfrm>
            <a:off x="715100" y="2935500"/>
            <a:ext cx="31806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15100" y="1341800"/>
            <a:ext cx="3751800" cy="13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4263100" y="2740825"/>
            <a:ext cx="38208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4263100" y="1871650"/>
            <a:ext cx="38208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715100" y="1274025"/>
            <a:ext cx="7713900" cy="28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"/>
          </p:nvPr>
        </p:nvSpPr>
        <p:spPr>
          <a:xfrm>
            <a:off x="715100" y="1175650"/>
            <a:ext cx="40047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4994900" y="1175650"/>
            <a:ext cx="34290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-753722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>
            <a:spLocks noGrp="1"/>
          </p:cNvSpPr>
          <p:nvPr>
            <p:ph type="subTitle" idx="1"/>
          </p:nvPr>
        </p:nvSpPr>
        <p:spPr>
          <a:xfrm>
            <a:off x="1290763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2"/>
          </p:nvPr>
        </p:nvSpPr>
        <p:spPr>
          <a:xfrm>
            <a:off x="4945638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3"/>
          </p:nvPr>
        </p:nvSpPr>
        <p:spPr>
          <a:xfrm>
            <a:off x="1290775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4"/>
          </p:nvPr>
        </p:nvSpPr>
        <p:spPr>
          <a:xfrm>
            <a:off x="4945650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44;p35"/>
          <p:cNvGrpSpPr/>
          <p:nvPr/>
        </p:nvGrpSpPr>
        <p:grpSpPr>
          <a:xfrm flipH="1">
            <a:off x="-1059374" y="202758"/>
            <a:ext cx="9874808" cy="5928742"/>
            <a:chOff x="252562" y="222183"/>
            <a:chExt cx="9874808" cy="5928742"/>
          </a:xfrm>
        </p:grpSpPr>
        <p:pic>
          <p:nvPicPr>
            <p:cNvPr id="245" name="Google Shape;245;p35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5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>
            <a:blip r:embed="rId5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4010875" y="1307100"/>
            <a:ext cx="4419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996263" y="3841453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2638050" y="1792100"/>
            <a:ext cx="3867900" cy="25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2638050" y="840725"/>
            <a:ext cx="27057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3620328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7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6802252" y="-21061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subTitle" idx="1"/>
          </p:nvPr>
        </p:nvSpPr>
        <p:spPr>
          <a:xfrm>
            <a:off x="715100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subTitle" idx="2"/>
          </p:nvPr>
        </p:nvSpPr>
        <p:spPr>
          <a:xfrm>
            <a:off x="4638325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subTitle" idx="1"/>
          </p:nvPr>
        </p:nvSpPr>
        <p:spPr>
          <a:xfrm>
            <a:off x="1881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 idx="2" hasCustomPrompt="1"/>
          </p:nvPr>
        </p:nvSpPr>
        <p:spPr>
          <a:xfrm>
            <a:off x="842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8"/>
          <p:cNvSpPr txBox="1">
            <a:spLocks noGrp="1"/>
          </p:cNvSpPr>
          <p:nvPr>
            <p:ph type="subTitle" idx="3"/>
          </p:nvPr>
        </p:nvSpPr>
        <p:spPr>
          <a:xfrm>
            <a:off x="1881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8"/>
          <p:cNvSpPr txBox="1">
            <a:spLocks noGrp="1"/>
          </p:cNvSpPr>
          <p:nvPr>
            <p:ph type="title" idx="4" hasCustomPrompt="1"/>
          </p:nvPr>
        </p:nvSpPr>
        <p:spPr>
          <a:xfrm>
            <a:off x="842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5"/>
          </p:nvPr>
        </p:nvSpPr>
        <p:spPr>
          <a:xfrm>
            <a:off x="1881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38"/>
          <p:cNvSpPr txBox="1">
            <a:spLocks noGrp="1"/>
          </p:cNvSpPr>
          <p:nvPr>
            <p:ph type="title" idx="6" hasCustomPrompt="1"/>
          </p:nvPr>
        </p:nvSpPr>
        <p:spPr>
          <a:xfrm>
            <a:off x="842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38"/>
          <p:cNvSpPr txBox="1">
            <a:spLocks noGrp="1"/>
          </p:cNvSpPr>
          <p:nvPr>
            <p:ph type="subTitle" idx="7"/>
          </p:nvPr>
        </p:nvSpPr>
        <p:spPr>
          <a:xfrm>
            <a:off x="1881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title" idx="8" hasCustomPrompt="1"/>
          </p:nvPr>
        </p:nvSpPr>
        <p:spPr>
          <a:xfrm>
            <a:off x="842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9"/>
          </p:nvPr>
        </p:nvSpPr>
        <p:spPr>
          <a:xfrm>
            <a:off x="5770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 idx="13" hasCustomPrompt="1"/>
          </p:nvPr>
        </p:nvSpPr>
        <p:spPr>
          <a:xfrm>
            <a:off x="4731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4"/>
          </p:nvPr>
        </p:nvSpPr>
        <p:spPr>
          <a:xfrm>
            <a:off x="5770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15" hasCustomPrompt="1"/>
          </p:nvPr>
        </p:nvSpPr>
        <p:spPr>
          <a:xfrm>
            <a:off x="4731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8"/>
          <p:cNvSpPr txBox="1">
            <a:spLocks noGrp="1"/>
          </p:cNvSpPr>
          <p:nvPr>
            <p:ph type="subTitle" idx="16"/>
          </p:nvPr>
        </p:nvSpPr>
        <p:spPr>
          <a:xfrm>
            <a:off x="5770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17" hasCustomPrompt="1"/>
          </p:nvPr>
        </p:nvSpPr>
        <p:spPr>
          <a:xfrm>
            <a:off x="4731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8"/>
          </p:nvPr>
        </p:nvSpPr>
        <p:spPr>
          <a:xfrm>
            <a:off x="5770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19" hasCustomPrompt="1"/>
          </p:nvPr>
        </p:nvSpPr>
        <p:spPr>
          <a:xfrm>
            <a:off x="4731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subTitle" idx="1"/>
          </p:nvPr>
        </p:nvSpPr>
        <p:spPr>
          <a:xfrm>
            <a:off x="715100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2"/>
          </p:nvPr>
        </p:nvSpPr>
        <p:spPr>
          <a:xfrm>
            <a:off x="4638325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3"/>
          </p:nvPr>
        </p:nvSpPr>
        <p:spPr>
          <a:xfrm>
            <a:off x="715100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4"/>
          </p:nvPr>
        </p:nvSpPr>
        <p:spPr>
          <a:xfrm>
            <a:off x="4638325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7200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1"/>
          </p:nvPr>
        </p:nvSpPr>
        <p:spPr>
          <a:xfrm>
            <a:off x="7200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 idx="2"/>
          </p:nvPr>
        </p:nvSpPr>
        <p:spPr>
          <a:xfrm>
            <a:off x="34038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subTitle" idx="3"/>
          </p:nvPr>
        </p:nvSpPr>
        <p:spPr>
          <a:xfrm>
            <a:off x="34038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/>
          </p:nvPr>
        </p:nvSpPr>
        <p:spPr>
          <a:xfrm>
            <a:off x="60876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subTitle" idx="5"/>
          </p:nvPr>
        </p:nvSpPr>
        <p:spPr>
          <a:xfrm>
            <a:off x="60876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717125" y="2594825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5" name="Google Shape;305;p41"/>
          <p:cNvSpPr txBox="1">
            <a:spLocks noGrp="1"/>
          </p:cNvSpPr>
          <p:nvPr>
            <p:ph type="subTitle" idx="1"/>
          </p:nvPr>
        </p:nvSpPr>
        <p:spPr>
          <a:xfrm>
            <a:off x="719988" y="3312525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 idx="2"/>
          </p:nvPr>
        </p:nvSpPr>
        <p:spPr>
          <a:xfrm>
            <a:off x="3395188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41"/>
          <p:cNvSpPr txBox="1">
            <a:spLocks noGrp="1"/>
          </p:cNvSpPr>
          <p:nvPr>
            <p:ph type="subTitle" idx="3"/>
          </p:nvPr>
        </p:nvSpPr>
        <p:spPr>
          <a:xfrm>
            <a:off x="3395188" y="331260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 idx="4"/>
          </p:nvPr>
        </p:nvSpPr>
        <p:spPr>
          <a:xfrm>
            <a:off x="6070363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41"/>
          <p:cNvSpPr txBox="1">
            <a:spLocks noGrp="1"/>
          </p:cNvSpPr>
          <p:nvPr>
            <p:ph type="subTitle" idx="5"/>
          </p:nvPr>
        </p:nvSpPr>
        <p:spPr>
          <a:xfrm>
            <a:off x="6070363" y="331215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 cstate="print">
            <a:alphaModFix amt="32000"/>
          </a:blip>
          <a:stretch>
            <a:fillRect/>
          </a:stretch>
        </p:blipFill>
        <p:spPr>
          <a:xfrm>
            <a:off x="-1019777" y="-1847072"/>
            <a:ext cx="2313025" cy="251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 cstate="print">
            <a:alphaModFix amt="30000"/>
          </a:blip>
          <a:stretch>
            <a:fillRect/>
          </a:stretch>
        </p:blipFill>
        <p:spPr>
          <a:xfrm>
            <a:off x="6988285" y="-2018700"/>
            <a:ext cx="2881223" cy="29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-702089">
            <a:off x="-734167" y="792101"/>
            <a:ext cx="77171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7200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1"/>
          </p:nvPr>
        </p:nvSpPr>
        <p:spPr>
          <a:xfrm>
            <a:off x="9246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42"/>
          <p:cNvSpPr txBox="1">
            <a:spLocks noGrp="1"/>
          </p:cNvSpPr>
          <p:nvPr>
            <p:ph type="title" idx="2"/>
          </p:nvPr>
        </p:nvSpPr>
        <p:spPr>
          <a:xfrm>
            <a:off x="34038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3"/>
          </p:nvPr>
        </p:nvSpPr>
        <p:spPr>
          <a:xfrm>
            <a:off x="36084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4"/>
          </p:nvPr>
        </p:nvSpPr>
        <p:spPr>
          <a:xfrm>
            <a:off x="60876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5"/>
          </p:nvPr>
        </p:nvSpPr>
        <p:spPr>
          <a:xfrm>
            <a:off x="62922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25;p43"/>
          <p:cNvGrpSpPr/>
          <p:nvPr/>
        </p:nvGrpSpPr>
        <p:grpSpPr>
          <a:xfrm>
            <a:off x="-2630529" y="-1513088"/>
            <a:ext cx="13086688" cy="8065884"/>
            <a:chOff x="-2630529" y="-1513088"/>
            <a:chExt cx="13086688" cy="8065884"/>
          </a:xfrm>
        </p:grpSpPr>
        <p:pic>
          <p:nvPicPr>
            <p:cNvPr id="326" name="Google Shape;326;p43"/>
            <p:cNvPicPr preferRelativeResize="0"/>
            <p:nvPr/>
          </p:nvPicPr>
          <p:blipFill>
            <a:blip r:embed="rId3" cstate="print">
              <a:alphaModFix amt="30000"/>
            </a:blip>
            <a:stretch>
              <a:fillRect/>
            </a:stretch>
          </p:blipFill>
          <p:spPr>
            <a:xfrm rot="8851044" flipH="1">
              <a:off x="-1601951" y="13880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 cstate="print">
              <a:alphaModFix amt="13000"/>
            </a:blip>
            <a:stretch>
              <a:fillRect/>
            </a:stretch>
          </p:blipFill>
          <p:spPr>
            <a:xfrm rot="-5400000">
              <a:off x="7611947" y="-1658325"/>
              <a:ext cx="2698976" cy="29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5" cstate="print">
              <a:alphaModFix amt="41000"/>
            </a:blip>
            <a:stretch>
              <a:fillRect/>
            </a:stretch>
          </p:blipFill>
          <p:spPr>
            <a:xfrm>
              <a:off x="1090275" y="95587"/>
              <a:ext cx="432124" cy="439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43"/>
            <p:cNvPicPr preferRelativeResize="0"/>
            <p:nvPr/>
          </p:nvPicPr>
          <p:blipFill>
            <a:blip r:embed="rId6" cstate="print">
              <a:alphaModFix amt="38000"/>
            </a:blip>
            <a:stretch>
              <a:fillRect/>
            </a:stretch>
          </p:blipFill>
          <p:spPr>
            <a:xfrm flipH="1">
              <a:off x="169348" y="471744"/>
              <a:ext cx="920927" cy="936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8724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1" name="Google Shape;331;p43"/>
          <p:cNvSpPr txBox="1">
            <a:spLocks noGrp="1"/>
          </p:cNvSpPr>
          <p:nvPr>
            <p:ph type="subTitle" idx="1"/>
          </p:nvPr>
        </p:nvSpPr>
        <p:spPr>
          <a:xfrm>
            <a:off x="8724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 idx="2"/>
          </p:nvPr>
        </p:nvSpPr>
        <p:spPr>
          <a:xfrm>
            <a:off x="34038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subTitle" idx="3"/>
          </p:nvPr>
        </p:nvSpPr>
        <p:spPr>
          <a:xfrm>
            <a:off x="34038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43"/>
          <p:cNvSpPr txBox="1">
            <a:spLocks noGrp="1"/>
          </p:cNvSpPr>
          <p:nvPr>
            <p:ph type="title" idx="4"/>
          </p:nvPr>
        </p:nvSpPr>
        <p:spPr>
          <a:xfrm>
            <a:off x="59352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5"/>
          </p:nvPr>
        </p:nvSpPr>
        <p:spPr>
          <a:xfrm>
            <a:off x="59352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43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39;p44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40" name="Google Shape;340;p44"/>
            <p:cNvPicPr preferRelativeResize="0"/>
            <p:nvPr/>
          </p:nvPicPr>
          <p:blipFill>
            <a:blip r:embed="rId3" cstate="print">
              <a:alphaModFix amt="27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44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44"/>
          <p:cNvSpPr txBox="1">
            <a:spLocks noGrp="1"/>
          </p:cNvSpPr>
          <p:nvPr>
            <p:ph type="title"/>
          </p:nvPr>
        </p:nvSpPr>
        <p:spPr>
          <a:xfrm>
            <a:off x="72792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1"/>
          </p:nvPr>
        </p:nvSpPr>
        <p:spPr>
          <a:xfrm>
            <a:off x="82587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 idx="2"/>
          </p:nvPr>
        </p:nvSpPr>
        <p:spPr>
          <a:xfrm>
            <a:off x="465997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3"/>
          </p:nvPr>
        </p:nvSpPr>
        <p:spPr>
          <a:xfrm>
            <a:off x="475792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44"/>
          <p:cNvSpPr txBox="1">
            <a:spLocks noGrp="1"/>
          </p:cNvSpPr>
          <p:nvPr>
            <p:ph type="title" idx="4"/>
          </p:nvPr>
        </p:nvSpPr>
        <p:spPr>
          <a:xfrm>
            <a:off x="269395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7" name="Google Shape;347;p44"/>
          <p:cNvSpPr txBox="1">
            <a:spLocks noGrp="1"/>
          </p:cNvSpPr>
          <p:nvPr>
            <p:ph type="subTitle" idx="5"/>
          </p:nvPr>
        </p:nvSpPr>
        <p:spPr>
          <a:xfrm>
            <a:off x="279190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 idx="6"/>
          </p:nvPr>
        </p:nvSpPr>
        <p:spPr>
          <a:xfrm>
            <a:off x="662600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7"/>
          </p:nvPr>
        </p:nvSpPr>
        <p:spPr>
          <a:xfrm>
            <a:off x="672395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53;p45"/>
          <p:cNvGrpSpPr/>
          <p:nvPr/>
        </p:nvGrpSpPr>
        <p:grpSpPr>
          <a:xfrm>
            <a:off x="-891002" y="-1475725"/>
            <a:ext cx="10578908" cy="2929874"/>
            <a:chOff x="-891002" y="-1228775"/>
            <a:chExt cx="10578908" cy="2929874"/>
          </a:xfrm>
        </p:grpSpPr>
        <p:pic>
          <p:nvPicPr>
            <p:cNvPr id="354" name="Google Shape;354;p4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7200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7200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45"/>
          <p:cNvSpPr txBox="1">
            <a:spLocks noGrp="1"/>
          </p:cNvSpPr>
          <p:nvPr>
            <p:ph type="title" idx="2"/>
          </p:nvPr>
        </p:nvSpPr>
        <p:spPr>
          <a:xfrm>
            <a:off x="3419269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3"/>
          </p:nvPr>
        </p:nvSpPr>
        <p:spPr>
          <a:xfrm>
            <a:off x="3419269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4"/>
          </p:nvPr>
        </p:nvSpPr>
        <p:spPr>
          <a:xfrm>
            <a:off x="7200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1" name="Google Shape;361;p45"/>
          <p:cNvSpPr txBox="1">
            <a:spLocks noGrp="1"/>
          </p:cNvSpPr>
          <p:nvPr>
            <p:ph type="subTitle" idx="5"/>
          </p:nvPr>
        </p:nvSpPr>
        <p:spPr>
          <a:xfrm>
            <a:off x="7200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title" idx="6"/>
          </p:nvPr>
        </p:nvSpPr>
        <p:spPr>
          <a:xfrm>
            <a:off x="3419269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45"/>
          <p:cNvSpPr txBox="1">
            <a:spLocks noGrp="1"/>
          </p:cNvSpPr>
          <p:nvPr>
            <p:ph type="subTitle" idx="7"/>
          </p:nvPr>
        </p:nvSpPr>
        <p:spPr>
          <a:xfrm>
            <a:off x="3419269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 idx="8"/>
          </p:nvPr>
        </p:nvSpPr>
        <p:spPr>
          <a:xfrm>
            <a:off x="6118545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9"/>
          </p:nvPr>
        </p:nvSpPr>
        <p:spPr>
          <a:xfrm>
            <a:off x="6118545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 idx="13"/>
          </p:nvPr>
        </p:nvSpPr>
        <p:spPr>
          <a:xfrm>
            <a:off x="6118545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45"/>
          <p:cNvSpPr txBox="1">
            <a:spLocks noGrp="1"/>
          </p:cNvSpPr>
          <p:nvPr>
            <p:ph type="subTitle" idx="14"/>
          </p:nvPr>
        </p:nvSpPr>
        <p:spPr>
          <a:xfrm>
            <a:off x="6118545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 idx="15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71;p46"/>
          <p:cNvGrpSpPr/>
          <p:nvPr/>
        </p:nvGrpSpPr>
        <p:grpSpPr>
          <a:xfrm>
            <a:off x="-1203759" y="-1310750"/>
            <a:ext cx="10783080" cy="7374679"/>
            <a:chOff x="-1203759" y="-1063800"/>
            <a:chExt cx="10783080" cy="7374679"/>
          </a:xfrm>
        </p:grpSpPr>
        <p:pic>
          <p:nvPicPr>
            <p:cNvPr id="372" name="Google Shape;372;p4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6698098" y="-10638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4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-467876" y="390012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9119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19119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4926594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46"/>
          <p:cNvSpPr txBox="1">
            <a:spLocks noGrp="1"/>
          </p:cNvSpPr>
          <p:nvPr>
            <p:ph type="subTitle" idx="3"/>
          </p:nvPr>
        </p:nvSpPr>
        <p:spPr>
          <a:xfrm>
            <a:off x="4926594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 idx="4"/>
          </p:nvPr>
        </p:nvSpPr>
        <p:spPr>
          <a:xfrm>
            <a:off x="19119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5"/>
          </p:nvPr>
        </p:nvSpPr>
        <p:spPr>
          <a:xfrm>
            <a:off x="19119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46"/>
          <p:cNvSpPr txBox="1">
            <a:spLocks noGrp="1"/>
          </p:cNvSpPr>
          <p:nvPr>
            <p:ph type="title" idx="6"/>
          </p:nvPr>
        </p:nvSpPr>
        <p:spPr>
          <a:xfrm>
            <a:off x="4926594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1" name="Google Shape;381;p46"/>
          <p:cNvSpPr txBox="1">
            <a:spLocks noGrp="1"/>
          </p:cNvSpPr>
          <p:nvPr>
            <p:ph type="subTitle" idx="7"/>
          </p:nvPr>
        </p:nvSpPr>
        <p:spPr>
          <a:xfrm>
            <a:off x="4926594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5" name="Google Shape;385;p47"/>
          <p:cNvSpPr txBox="1">
            <a:spLocks noGrp="1"/>
          </p:cNvSpPr>
          <p:nvPr>
            <p:ph type="title" idx="2"/>
          </p:nvPr>
        </p:nvSpPr>
        <p:spPr>
          <a:xfrm>
            <a:off x="1104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6" name="Google Shape;386;p47"/>
          <p:cNvSpPr txBox="1">
            <a:spLocks noGrp="1"/>
          </p:cNvSpPr>
          <p:nvPr>
            <p:ph type="subTitle" idx="1"/>
          </p:nvPr>
        </p:nvSpPr>
        <p:spPr>
          <a:xfrm>
            <a:off x="7165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 idx="3"/>
          </p:nvPr>
        </p:nvSpPr>
        <p:spPr>
          <a:xfrm>
            <a:off x="5137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4"/>
          </p:nvPr>
        </p:nvSpPr>
        <p:spPr>
          <a:xfrm>
            <a:off x="46828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 idx="5"/>
          </p:nvPr>
        </p:nvSpPr>
        <p:spPr>
          <a:xfrm>
            <a:off x="1104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6"/>
          </p:nvPr>
        </p:nvSpPr>
        <p:spPr>
          <a:xfrm>
            <a:off x="7165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title" idx="7"/>
          </p:nvPr>
        </p:nvSpPr>
        <p:spPr>
          <a:xfrm>
            <a:off x="5137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8"/>
          </p:nvPr>
        </p:nvSpPr>
        <p:spPr>
          <a:xfrm>
            <a:off x="46828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393;p47"/>
          <p:cNvGrpSpPr/>
          <p:nvPr/>
        </p:nvGrpSpPr>
        <p:grpSpPr>
          <a:xfrm rot="10800000" flipH="1">
            <a:off x="-891002" y="-794254"/>
            <a:ext cx="10578908" cy="3143404"/>
            <a:chOff x="-891002" y="-1020125"/>
            <a:chExt cx="10578908" cy="3143404"/>
          </a:xfrm>
        </p:grpSpPr>
        <p:pic>
          <p:nvPicPr>
            <p:cNvPr id="394" name="Google Shape;394;p47"/>
            <p:cNvPicPr preferRelativeResize="0"/>
            <p:nvPr/>
          </p:nvPicPr>
          <p:blipFill>
            <a:blip r:embed="rId2" cstate="print">
              <a:alphaModFix amt="29000"/>
            </a:blip>
            <a:stretch>
              <a:fillRect/>
            </a:stretch>
          </p:blipFill>
          <p:spPr>
            <a:xfrm>
              <a:off x="-891002" y="-10201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7"/>
            <p:cNvPicPr preferRelativeResize="0"/>
            <p:nvPr/>
          </p:nvPicPr>
          <p:blipFill>
            <a:blip r:embed="rId3" cstate="print">
              <a:alphaModFix amt="43000"/>
            </a:blip>
            <a:stretch>
              <a:fillRect/>
            </a:stretch>
          </p:blipFill>
          <p:spPr>
            <a:xfrm rot="4408896">
              <a:off x="7465724" y="-2874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98;p48"/>
          <p:cNvGrpSpPr/>
          <p:nvPr/>
        </p:nvGrpSpPr>
        <p:grpSpPr>
          <a:xfrm rot="10800000" flipH="1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399" name="Google Shape;399;p48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8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720000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1"/>
          </p:nvPr>
        </p:nvSpPr>
        <p:spPr>
          <a:xfrm>
            <a:off x="720000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2"/>
          </p:nvPr>
        </p:nvSpPr>
        <p:spPr>
          <a:xfrm>
            <a:off x="3419269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3"/>
          </p:nvPr>
        </p:nvSpPr>
        <p:spPr>
          <a:xfrm>
            <a:off x="3419269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 idx="4"/>
          </p:nvPr>
        </p:nvSpPr>
        <p:spPr>
          <a:xfrm>
            <a:off x="2069638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5"/>
          </p:nvPr>
        </p:nvSpPr>
        <p:spPr>
          <a:xfrm>
            <a:off x="2069638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7" name="Google Shape;407;p48"/>
          <p:cNvSpPr txBox="1">
            <a:spLocks noGrp="1"/>
          </p:cNvSpPr>
          <p:nvPr>
            <p:ph type="title" idx="6"/>
          </p:nvPr>
        </p:nvSpPr>
        <p:spPr>
          <a:xfrm>
            <a:off x="4768907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7"/>
          </p:nvPr>
        </p:nvSpPr>
        <p:spPr>
          <a:xfrm>
            <a:off x="4768907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9" name="Google Shape;409;p48"/>
          <p:cNvSpPr txBox="1">
            <a:spLocks noGrp="1"/>
          </p:cNvSpPr>
          <p:nvPr>
            <p:ph type="title" idx="8"/>
          </p:nvPr>
        </p:nvSpPr>
        <p:spPr>
          <a:xfrm>
            <a:off x="6118545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9"/>
          </p:nvPr>
        </p:nvSpPr>
        <p:spPr>
          <a:xfrm>
            <a:off x="6118545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title" idx="13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>
            <a:spLocks noGrp="1"/>
          </p:cNvSpPr>
          <p:nvPr>
            <p:ph type="title" hasCustomPrompt="1"/>
          </p:nvPr>
        </p:nvSpPr>
        <p:spPr>
          <a:xfrm>
            <a:off x="1312156" y="19972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1"/>
          </p:nvPr>
        </p:nvSpPr>
        <p:spPr>
          <a:xfrm>
            <a:off x="1312225" y="4188588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title" idx="2" hasCustomPrompt="1"/>
          </p:nvPr>
        </p:nvSpPr>
        <p:spPr>
          <a:xfrm>
            <a:off x="1312144" y="34175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3"/>
          </p:nvPr>
        </p:nvSpPr>
        <p:spPr>
          <a:xfrm>
            <a:off x="1312175" y="12895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 idx="4" hasCustomPrompt="1"/>
          </p:nvPr>
        </p:nvSpPr>
        <p:spPr>
          <a:xfrm>
            <a:off x="1312181" y="5769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9" name="Google Shape;419;p49"/>
          <p:cNvSpPr txBox="1">
            <a:spLocks noGrp="1"/>
          </p:cNvSpPr>
          <p:nvPr>
            <p:ph type="subTitle" idx="5"/>
          </p:nvPr>
        </p:nvSpPr>
        <p:spPr>
          <a:xfrm>
            <a:off x="1312225" y="27098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20;p49"/>
          <p:cNvGrpSpPr/>
          <p:nvPr/>
        </p:nvGrpSpPr>
        <p:grpSpPr>
          <a:xfrm>
            <a:off x="-1956832" y="-1968099"/>
            <a:ext cx="12940132" cy="7885148"/>
            <a:chOff x="-1956832" y="-1968099"/>
            <a:chExt cx="12940132" cy="7885148"/>
          </a:xfrm>
        </p:grpSpPr>
        <p:pic>
          <p:nvPicPr>
            <p:cNvPr id="421" name="Google Shape;421;p49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-1253698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9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7260176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>
            <a:spLocks noGrp="1"/>
          </p:cNvSpPr>
          <p:nvPr>
            <p:ph type="title" hasCustomPrompt="1"/>
          </p:nvPr>
        </p:nvSpPr>
        <p:spPr>
          <a:xfrm>
            <a:off x="1991075" y="28280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6" name="Google Shape;426;p50"/>
          <p:cNvSpPr txBox="1">
            <a:spLocks noGrp="1"/>
          </p:cNvSpPr>
          <p:nvPr>
            <p:ph type="subTitle" idx="1"/>
          </p:nvPr>
        </p:nvSpPr>
        <p:spPr>
          <a:xfrm>
            <a:off x="1991091" y="19373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 idx="2" hasCustomPrompt="1"/>
          </p:nvPr>
        </p:nvSpPr>
        <p:spPr>
          <a:xfrm>
            <a:off x="1991100" y="10196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8" name="Google Shape;428;p50"/>
          <p:cNvSpPr txBox="1">
            <a:spLocks noGrp="1"/>
          </p:cNvSpPr>
          <p:nvPr>
            <p:ph type="subTitle" idx="3"/>
          </p:nvPr>
        </p:nvSpPr>
        <p:spPr>
          <a:xfrm>
            <a:off x="1991130" y="37458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29" name="Google Shape;429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-1181955" flipH="1">
            <a:off x="-1253698" y="-1113975"/>
            <a:ext cx="3030302" cy="46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2567899" flipH="1">
            <a:off x="7747451" y="1912351"/>
            <a:ext cx="3030303" cy="469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>
            <a:spLocks noGrp="1"/>
          </p:cNvSpPr>
          <p:nvPr>
            <p:ph type="title" hasCustomPrompt="1"/>
          </p:nvPr>
        </p:nvSpPr>
        <p:spPr>
          <a:xfrm>
            <a:off x="3331628" y="1815466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4" name="Google Shape;434;p51"/>
          <p:cNvSpPr txBox="1">
            <a:spLocks noGrp="1"/>
          </p:cNvSpPr>
          <p:nvPr>
            <p:ph type="subTitle" idx="1"/>
          </p:nvPr>
        </p:nvSpPr>
        <p:spPr>
          <a:xfrm>
            <a:off x="6195725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 idx="2" hasCustomPrompt="1"/>
          </p:nvPr>
        </p:nvSpPr>
        <p:spPr>
          <a:xfrm>
            <a:off x="5948173" y="1815454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96261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51"/>
          <p:cNvSpPr txBox="1">
            <a:spLocks noGrp="1"/>
          </p:cNvSpPr>
          <p:nvPr>
            <p:ph type="title" idx="4" hasCustomPrompt="1"/>
          </p:nvPr>
        </p:nvSpPr>
        <p:spPr>
          <a:xfrm>
            <a:off x="715112" y="1844691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5"/>
          </p:nvPr>
        </p:nvSpPr>
        <p:spPr>
          <a:xfrm>
            <a:off x="357916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39;p51"/>
          <p:cNvGrpSpPr/>
          <p:nvPr/>
        </p:nvGrpSpPr>
        <p:grpSpPr>
          <a:xfrm>
            <a:off x="-1923024" y="-1968099"/>
            <a:ext cx="13199162" cy="7885148"/>
            <a:chOff x="-1923024" y="-1968099"/>
            <a:chExt cx="13199162" cy="7885148"/>
          </a:xfrm>
        </p:grpSpPr>
        <p:pic>
          <p:nvPicPr>
            <p:cNvPr id="440" name="Google Shape;440;p51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7542702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51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51"/>
          <p:cNvSpPr txBox="1">
            <a:spLocks noGrp="1"/>
          </p:cNvSpPr>
          <p:nvPr>
            <p:ph type="subTitle" idx="6"/>
          </p:nvPr>
        </p:nvSpPr>
        <p:spPr>
          <a:xfrm>
            <a:off x="6195725" y="3761146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7"/>
          </p:nvPr>
        </p:nvSpPr>
        <p:spPr>
          <a:xfrm>
            <a:off x="962612" y="3761145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8"/>
          </p:nvPr>
        </p:nvSpPr>
        <p:spPr>
          <a:xfrm>
            <a:off x="3579162" y="3761147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51"/>
          <p:cNvSpPr txBox="1">
            <a:spLocks noGrp="1"/>
          </p:cNvSpPr>
          <p:nvPr>
            <p:ph type="title" idx="9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1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>
            <a:spLocks noGrp="1"/>
          </p:cNvSpPr>
          <p:nvPr>
            <p:ph type="title" hasCustomPrompt="1"/>
          </p:nvPr>
        </p:nvSpPr>
        <p:spPr>
          <a:xfrm>
            <a:off x="715101" y="21450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4889626" y="1344850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2" hasCustomPrompt="1"/>
          </p:nvPr>
        </p:nvSpPr>
        <p:spPr>
          <a:xfrm>
            <a:off x="715106" y="1344838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1" name="Google Shape;451;p52"/>
          <p:cNvSpPr txBox="1">
            <a:spLocks noGrp="1"/>
          </p:cNvSpPr>
          <p:nvPr>
            <p:ph type="subTitle" idx="3"/>
          </p:nvPr>
        </p:nvSpPr>
        <p:spPr>
          <a:xfrm>
            <a:off x="4889626" y="2145009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52;p52"/>
          <p:cNvGrpSpPr/>
          <p:nvPr/>
        </p:nvGrpSpPr>
        <p:grpSpPr>
          <a:xfrm rot="10800000">
            <a:off x="-2743074" y="-793849"/>
            <a:ext cx="13820262" cy="7885148"/>
            <a:chOff x="-1923024" y="-1968099"/>
            <a:chExt cx="13820262" cy="7885148"/>
          </a:xfrm>
        </p:grpSpPr>
        <p:pic>
          <p:nvPicPr>
            <p:cNvPr id="453" name="Google Shape;453;p52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8163802" y="5153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2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52"/>
          <p:cNvSpPr txBox="1">
            <a:spLocks noGrp="1"/>
          </p:cNvSpPr>
          <p:nvPr>
            <p:ph type="subTitle" idx="4"/>
          </p:nvPr>
        </p:nvSpPr>
        <p:spPr>
          <a:xfrm>
            <a:off x="6515000" y="1344838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6" name="Google Shape;456;p52"/>
          <p:cNvSpPr txBox="1">
            <a:spLocks noGrp="1"/>
          </p:cNvSpPr>
          <p:nvPr>
            <p:ph type="subTitle" idx="5"/>
          </p:nvPr>
        </p:nvSpPr>
        <p:spPr>
          <a:xfrm>
            <a:off x="6515000" y="21450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7" name="Google Shape;457;p52"/>
          <p:cNvSpPr txBox="1">
            <a:spLocks noGrp="1"/>
          </p:cNvSpPr>
          <p:nvPr>
            <p:ph type="title" idx="6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8" name="Google Shape;458;p52"/>
          <p:cNvSpPr txBox="1">
            <a:spLocks noGrp="1"/>
          </p:cNvSpPr>
          <p:nvPr>
            <p:ph type="title" idx="7" hasCustomPrompt="1"/>
          </p:nvPr>
        </p:nvSpPr>
        <p:spPr>
          <a:xfrm>
            <a:off x="715101" y="294515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9" name="Google Shape;459;p52"/>
          <p:cNvSpPr txBox="1">
            <a:spLocks noGrp="1"/>
          </p:cNvSpPr>
          <p:nvPr>
            <p:ph type="subTitle" idx="8"/>
          </p:nvPr>
        </p:nvSpPr>
        <p:spPr>
          <a:xfrm>
            <a:off x="4889626" y="2945155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9"/>
          </p:nvPr>
        </p:nvSpPr>
        <p:spPr>
          <a:xfrm>
            <a:off x="6515000" y="294515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1" name="Google Shape;461;p52"/>
          <p:cNvSpPr txBox="1">
            <a:spLocks noGrp="1"/>
          </p:cNvSpPr>
          <p:nvPr>
            <p:ph type="title" idx="13" hasCustomPrompt="1"/>
          </p:nvPr>
        </p:nvSpPr>
        <p:spPr>
          <a:xfrm>
            <a:off x="715101" y="37453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2" name="Google Shape;462;p52"/>
          <p:cNvSpPr txBox="1">
            <a:spLocks noGrp="1"/>
          </p:cNvSpPr>
          <p:nvPr>
            <p:ph type="subTitle" idx="14"/>
          </p:nvPr>
        </p:nvSpPr>
        <p:spPr>
          <a:xfrm>
            <a:off x="4889626" y="3745301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3" name="Google Shape;463;p52"/>
          <p:cNvSpPr txBox="1">
            <a:spLocks noGrp="1"/>
          </p:cNvSpPr>
          <p:nvPr>
            <p:ph type="subTitle" idx="15"/>
          </p:nvPr>
        </p:nvSpPr>
        <p:spPr>
          <a:xfrm>
            <a:off x="6515000" y="37453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6" name="Google Shape;466;p53"/>
          <p:cNvSpPr txBox="1">
            <a:spLocks noGrp="1"/>
          </p:cNvSpPr>
          <p:nvPr>
            <p:ph type="title" idx="2"/>
          </p:nvPr>
        </p:nvSpPr>
        <p:spPr>
          <a:xfrm>
            <a:off x="883625" y="148907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7" name="Google Shape;467;p53"/>
          <p:cNvSpPr txBox="1">
            <a:spLocks noGrp="1"/>
          </p:cNvSpPr>
          <p:nvPr>
            <p:ph type="subTitle" idx="1"/>
          </p:nvPr>
        </p:nvSpPr>
        <p:spPr>
          <a:xfrm>
            <a:off x="3080450" y="148907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8" name="Google Shape;468;p53"/>
          <p:cNvSpPr txBox="1">
            <a:spLocks noGrp="1"/>
          </p:cNvSpPr>
          <p:nvPr>
            <p:ph type="title" idx="3"/>
          </p:nvPr>
        </p:nvSpPr>
        <p:spPr>
          <a:xfrm>
            <a:off x="883625" y="230790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9" name="Google Shape;469;p53"/>
          <p:cNvSpPr txBox="1">
            <a:spLocks noGrp="1"/>
          </p:cNvSpPr>
          <p:nvPr>
            <p:ph type="subTitle" idx="4"/>
          </p:nvPr>
        </p:nvSpPr>
        <p:spPr>
          <a:xfrm>
            <a:off x="3080450" y="230790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0" name="Google Shape;470;p53"/>
          <p:cNvSpPr txBox="1">
            <a:spLocks noGrp="1"/>
          </p:cNvSpPr>
          <p:nvPr>
            <p:ph type="title" idx="5"/>
          </p:nvPr>
        </p:nvSpPr>
        <p:spPr>
          <a:xfrm>
            <a:off x="883625" y="312672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6"/>
          </p:nvPr>
        </p:nvSpPr>
        <p:spPr>
          <a:xfrm>
            <a:off x="3080450" y="312672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title" idx="7"/>
          </p:nvPr>
        </p:nvSpPr>
        <p:spPr>
          <a:xfrm>
            <a:off x="883625" y="394555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3" name="Google Shape;473;p53"/>
          <p:cNvSpPr txBox="1">
            <a:spLocks noGrp="1"/>
          </p:cNvSpPr>
          <p:nvPr>
            <p:ph type="subTitle" idx="8"/>
          </p:nvPr>
        </p:nvSpPr>
        <p:spPr>
          <a:xfrm>
            <a:off x="3080450" y="394555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>
            <a:off x="0" y="202705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>
            <a:spLocks noGrp="1"/>
          </p:cNvSpPr>
          <p:nvPr>
            <p:ph type="title"/>
          </p:nvPr>
        </p:nvSpPr>
        <p:spPr>
          <a:xfrm flipH="1">
            <a:off x="2476075" y="1588775"/>
            <a:ext cx="4291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54"/>
          <p:cNvSpPr txBox="1">
            <a:spLocks noGrp="1"/>
          </p:cNvSpPr>
          <p:nvPr>
            <p:ph type="subTitle" idx="1"/>
          </p:nvPr>
        </p:nvSpPr>
        <p:spPr>
          <a:xfrm flipH="1">
            <a:off x="2476075" y="2968230"/>
            <a:ext cx="4291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5"/>
          <p:cNvSpPr txBox="1">
            <a:spLocks noGrp="1"/>
          </p:cNvSpPr>
          <p:nvPr>
            <p:ph type="title"/>
          </p:nvPr>
        </p:nvSpPr>
        <p:spPr>
          <a:xfrm flipH="1">
            <a:off x="4320775" y="1588775"/>
            <a:ext cx="4110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2" name="Google Shape;482;p55"/>
          <p:cNvSpPr txBox="1">
            <a:spLocks noGrp="1"/>
          </p:cNvSpPr>
          <p:nvPr>
            <p:ph type="subTitle" idx="1"/>
          </p:nvPr>
        </p:nvSpPr>
        <p:spPr>
          <a:xfrm flipH="1">
            <a:off x="4320775" y="2968225"/>
            <a:ext cx="4110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83;p55"/>
          <p:cNvGrpSpPr/>
          <p:nvPr/>
        </p:nvGrpSpPr>
        <p:grpSpPr>
          <a:xfrm rot="10800000" flipH="1">
            <a:off x="-616659" y="-488554"/>
            <a:ext cx="10865580" cy="6700154"/>
            <a:chOff x="-713684" y="-2669900"/>
            <a:chExt cx="10865580" cy="6700154"/>
          </a:xfrm>
        </p:grpSpPr>
        <p:pic>
          <p:nvPicPr>
            <p:cNvPr id="484" name="Google Shape;484;p5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7270673" y="-26699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22199" y="161950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408076" y="1740900"/>
            <a:ext cx="286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9" name="Google Shape;489;p56"/>
          <p:cNvSpPr txBox="1">
            <a:spLocks noGrp="1"/>
          </p:cNvSpPr>
          <p:nvPr>
            <p:ph type="subTitle" idx="1"/>
          </p:nvPr>
        </p:nvSpPr>
        <p:spPr>
          <a:xfrm>
            <a:off x="4408076" y="2313597"/>
            <a:ext cx="2861100" cy="10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90;p56"/>
          <p:cNvGrpSpPr/>
          <p:nvPr/>
        </p:nvGrpSpPr>
        <p:grpSpPr>
          <a:xfrm rot="10800000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491" name="Google Shape;491;p5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3" y="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flipH="1">
            <a:off x="0" y="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 txBox="1">
            <a:spLocks noGrp="1"/>
          </p:cNvSpPr>
          <p:nvPr>
            <p:ph type="subTitle" idx="1"/>
          </p:nvPr>
        </p:nvSpPr>
        <p:spPr>
          <a:xfrm>
            <a:off x="2478875" y="3859275"/>
            <a:ext cx="41862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7" name="Google Shape;497;p5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8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flipH="1">
            <a:off x="-2015" y="-955475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>
            <a:spLocks noGrp="1"/>
          </p:cNvSpPr>
          <p:nvPr>
            <p:ph type="ctrTitle"/>
          </p:nvPr>
        </p:nvSpPr>
        <p:spPr>
          <a:xfrm>
            <a:off x="2429950" y="41897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2" name="Google Shape;502;p58"/>
          <p:cNvSpPr txBox="1">
            <a:spLocks noGrp="1"/>
          </p:cNvSpPr>
          <p:nvPr>
            <p:ph type="subTitle" idx="1"/>
          </p:nvPr>
        </p:nvSpPr>
        <p:spPr>
          <a:xfrm>
            <a:off x="2425075" y="1659495"/>
            <a:ext cx="42939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3" name="Google Shape;503;p58"/>
          <p:cNvSpPr txBox="1"/>
          <p:nvPr/>
        </p:nvSpPr>
        <p:spPr>
          <a:xfrm>
            <a:off x="2825850" y="3686879"/>
            <a:ext cx="349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DFDEFC"/>
                </a:highlight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08;p60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509" name="Google Shape;509;p6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60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6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16;p62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517" name="Google Shape;517;p62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2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863A74B8-EF64-4578-9A72-98E8B3A3A10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1FC"/>
              </a:gs>
              <a:gs pos="74000">
                <a:srgbClr val="BFCBD9"/>
              </a:gs>
              <a:gs pos="83000">
                <a:srgbClr val="BFCBD9"/>
              </a:gs>
              <a:gs pos="100000">
                <a:srgbClr val="BFCBD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2003261B-DE37-4912-AF5A-8E51A0F03535}"/>
              </a:ext>
            </a:extLst>
          </p:cNvPr>
          <p:cNvSpPr/>
          <p:nvPr/>
        </p:nvSpPr>
        <p:spPr>
          <a:xfrm>
            <a:off x="1304925" y="1085851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="" xmlns:a16="http://schemas.microsoft.com/office/drawing/2014/main" id="{63EA7C3A-9E97-4FD9-9258-90A2A701B48E}"/>
              </a:ext>
            </a:extLst>
          </p:cNvPr>
          <p:cNvSpPr/>
          <p:nvPr/>
        </p:nvSpPr>
        <p:spPr>
          <a:xfrm>
            <a:off x="549276" y="549276"/>
            <a:ext cx="8045448" cy="4040188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FBDF1A8A-E8B1-4F56-8E05-BF95BE98DE5B}"/>
              </a:ext>
            </a:extLst>
          </p:cNvPr>
          <p:cNvSpPr/>
          <p:nvPr/>
        </p:nvSpPr>
        <p:spPr>
          <a:xfrm>
            <a:off x="549276" y="549274"/>
            <a:ext cx="8045448" cy="2022476"/>
          </a:xfrm>
          <a:custGeom>
            <a:avLst/>
            <a:gdLst>
              <a:gd name="connsiteX0" fmla="*/ 95348 w 10727264"/>
              <a:gd name="connsiteY0" fmla="*/ 0 h 2696634"/>
              <a:gd name="connsiteX1" fmla="*/ 10631916 w 10727264"/>
              <a:gd name="connsiteY1" fmla="*/ 0 h 2696634"/>
              <a:gd name="connsiteX2" fmla="*/ 10727264 w 10727264"/>
              <a:gd name="connsiteY2" fmla="*/ 95348 h 2696634"/>
              <a:gd name="connsiteX3" fmla="*/ 10727264 w 10727264"/>
              <a:gd name="connsiteY3" fmla="*/ 2696634 h 2696634"/>
              <a:gd name="connsiteX4" fmla="*/ 0 w 10727264"/>
              <a:gd name="connsiteY4" fmla="*/ 2696634 h 2696634"/>
              <a:gd name="connsiteX5" fmla="*/ 0 w 10727264"/>
              <a:gd name="connsiteY5" fmla="*/ 95348 h 2696634"/>
              <a:gd name="connsiteX6" fmla="*/ 95348 w 10727264"/>
              <a:gd name="connsiteY6" fmla="*/ 0 h 269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27264" h="2696634">
                <a:moveTo>
                  <a:pt x="95348" y="0"/>
                </a:moveTo>
                <a:lnTo>
                  <a:pt x="10631916" y="0"/>
                </a:lnTo>
                <a:cubicBezTo>
                  <a:pt x="10684575" y="0"/>
                  <a:pt x="10727264" y="42689"/>
                  <a:pt x="10727264" y="95348"/>
                </a:cubicBezTo>
                <a:lnTo>
                  <a:pt x="10727264" y="2696634"/>
                </a:lnTo>
                <a:lnTo>
                  <a:pt x="0" y="2696634"/>
                </a:lnTo>
                <a:lnTo>
                  <a:pt x="0" y="95348"/>
                </a:lnTo>
                <a:cubicBezTo>
                  <a:pt x="0" y="42689"/>
                  <a:pt x="42689" y="0"/>
                  <a:pt x="9534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5162"/>
            <a:ext cx="6858000" cy="1790700"/>
          </a:xfrm>
        </p:spPr>
        <p:txBody>
          <a:bodyPr anchor="b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71544"/>
            <a:ext cx="6858000" cy="5319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700" cap="all" baseline="0">
                <a:solidFill>
                  <a:srgbClr val="4C8BFD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D686E"/>
                </a:solidFill>
              </a:defRPr>
            </a:lvl1pPr>
          </a:lstStyle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9250" y="4834955"/>
            <a:ext cx="3086100" cy="274637"/>
          </a:xfrm>
        </p:spPr>
        <p:txBody>
          <a:bodyPr/>
          <a:lstStyle>
            <a:lvl1pPr algn="r">
              <a:defRPr>
                <a:solidFill>
                  <a:srgbClr val="5D686E"/>
                </a:solidFill>
              </a:defRPr>
            </a:lvl1pPr>
          </a:lstStyle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725003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E32617-F728-4345-9B63-C0B5F79D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FF96419-4C10-4573-9A34-A9E44962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21271FF-57D3-46C2-B896-B112906A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D73037F-AC0A-45F2-9BE0-E2564EE6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767351E8-B1DF-47F2-BEAE-438019E48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533526"/>
            <a:ext cx="7886700" cy="3246119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61709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2"/>
            <a:ext cx="7886700" cy="2139950"/>
          </a:xfrm>
        </p:spPr>
        <p:txBody>
          <a:bodyPr anchor="b"/>
          <a:lstStyle>
            <a:lvl1pPr>
              <a:defRPr sz="6000">
                <a:solidFill>
                  <a:srgbClr val="5D686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2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2003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243147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40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791504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385813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114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3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416588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32561"/>
            <a:ext cx="7886700" cy="329228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085483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310098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364718"/>
            <a:ext cx="9144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5" y="2303794"/>
            <a:ext cx="5046133" cy="535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6" y="459104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1974850"/>
            <a:ext cx="2224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029355"/>
            <a:ext cx="261456" cy="167993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0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37.png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hyperlink" Target="http://www.presentationgo.com/" TargetMode="Externa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=""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7" name="Google Shape;527;p6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3ABCEAB2-FBDF-46DE-8DD3-07B5136284FA}"/>
              </a:ext>
            </a:extLst>
          </p:cNvPr>
          <p:cNvSpPr/>
          <p:nvPr/>
        </p:nvSpPr>
        <p:spPr>
          <a:xfrm>
            <a:off x="1371600" y="1171576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="" xmlns:a16="http://schemas.microsoft.com/office/drawing/2014/main" id="{27E6ECE6-8137-4F41-A6F0-DC9623651236}"/>
              </a:ext>
            </a:extLst>
          </p:cNvPr>
          <p:cNvSpPr/>
          <p:nvPr/>
        </p:nvSpPr>
        <p:spPr>
          <a:xfrm>
            <a:off x="356109" y="356108"/>
            <a:ext cx="8431785" cy="4431285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0" name="Freeform: Shape 29">
            <a:extLst>
              <a:ext uri="{FF2B5EF4-FFF2-40B4-BE49-F238E27FC236}">
                <a16:creationId xmlns="" xmlns:a16="http://schemas.microsoft.com/office/drawing/2014/main" id="{912DC555-B169-430C-85D9-8F1BCAF97743}"/>
              </a:ext>
            </a:extLst>
          </p:cNvPr>
          <p:cNvSpPr/>
          <p:nvPr/>
        </p:nvSpPr>
        <p:spPr>
          <a:xfrm>
            <a:off x="356109" y="354286"/>
            <a:ext cx="8431785" cy="1023223"/>
          </a:xfrm>
          <a:custGeom>
            <a:avLst/>
            <a:gdLst>
              <a:gd name="connsiteX0" fmla="*/ 104578 w 11242380"/>
              <a:gd name="connsiteY0" fmla="*/ 0 h 1364297"/>
              <a:gd name="connsiteX1" fmla="*/ 11137802 w 11242380"/>
              <a:gd name="connsiteY1" fmla="*/ 0 h 1364297"/>
              <a:gd name="connsiteX2" fmla="*/ 11242380 w 11242380"/>
              <a:gd name="connsiteY2" fmla="*/ 104578 h 1364297"/>
              <a:gd name="connsiteX3" fmla="*/ 11242380 w 11242380"/>
              <a:gd name="connsiteY3" fmla="*/ 1364297 h 1364297"/>
              <a:gd name="connsiteX4" fmla="*/ 0 w 11242380"/>
              <a:gd name="connsiteY4" fmla="*/ 1364297 h 1364297"/>
              <a:gd name="connsiteX5" fmla="*/ 0 w 11242380"/>
              <a:gd name="connsiteY5" fmla="*/ 104578 h 1364297"/>
              <a:gd name="connsiteX6" fmla="*/ 104578 w 11242380"/>
              <a:gd name="connsiteY6" fmla="*/ 0 h 13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2380" h="1364297">
                <a:moveTo>
                  <a:pt x="104578" y="0"/>
                </a:moveTo>
                <a:lnTo>
                  <a:pt x="11137802" y="0"/>
                </a:lnTo>
                <a:cubicBezTo>
                  <a:pt x="11195559" y="0"/>
                  <a:pt x="11242380" y="46821"/>
                  <a:pt x="11242380" y="104578"/>
                </a:cubicBezTo>
                <a:lnTo>
                  <a:pt x="11242380" y="1364297"/>
                </a:lnTo>
                <a:lnTo>
                  <a:pt x="0" y="1364297"/>
                </a:lnTo>
                <a:lnTo>
                  <a:pt x="0" y="104578"/>
                </a:lnTo>
                <a:cubicBezTo>
                  <a:pt x="0" y="46821"/>
                  <a:pt x="46821" y="0"/>
                  <a:pt x="10457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523"/>
            <a:ext cx="7886700" cy="324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495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pPr algn="r"/>
            <a:fld id="{1C0DB9A4-7C00-41BB-B303-4E91C20728DD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3856"/>
            <a:ext cx="7886700" cy="101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050A3E62-9D04-42CF-968F-5F6E2C124DB8}"/>
              </a:ext>
            </a:extLst>
          </p:cNvPr>
          <p:cNvSpPr/>
          <p:nvPr/>
        </p:nvSpPr>
        <p:spPr>
          <a:xfrm>
            <a:off x="-88899" y="5219701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4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7" name="Group 16">
            <a:extLst>
              <a:ext uri="{FF2B5EF4-FFF2-40B4-BE49-F238E27FC236}">
                <a16:creationId xmlns="" xmlns:a16="http://schemas.microsoft.com/office/drawing/2014/main" id="{B356D5FC-88A6-4DDA-911C-2AF338BB6929}"/>
              </a:ext>
            </a:extLst>
          </p:cNvPr>
          <p:cNvGrpSpPr/>
          <p:nvPr/>
        </p:nvGrpSpPr>
        <p:grpSpPr>
          <a:xfrm>
            <a:off x="-1654908" y="-55353"/>
            <a:ext cx="1556359" cy="520664"/>
            <a:chOff x="-2096383" y="21447"/>
            <a:chExt cx="1556359" cy="694218"/>
          </a:xfrm>
        </p:grpSpPr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52DEBD7C-F558-4D4F-8E49-929D46967D92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9012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8C9E32DC-7D1B-4F0A-8A94-9976C83581EE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61986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="" xmlns:a16="http://schemas.microsoft.com/office/drawing/2014/main" id="{CDF23B40-7BE1-43AB-84F8-8890236A61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5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D686E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D686E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D686E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pPr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CS-409: </a:t>
            </a:r>
            <a:r>
              <a:rPr lang="el-GR"/>
              <a:t>Αντικειμενοστρεφής 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www.kaggle.com/datasets/yasserhessein/multi-dataset-phishing" TargetMode="External"/><Relationship Id="rId1" Type="http://schemas.openxmlformats.org/officeDocument/2006/relationships/slideLayout" Target="../slideLayouts/slideLayout8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cV6lnKY8hk_8rSm_HM0U62n5LXsLXGV4?usp=sharing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9346" y="267494"/>
            <a:ext cx="8749718" cy="194421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spc="-100" smtClean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FINAL 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YEAR RESEARCH PROJECT </a:t>
            </a:r>
          </a:p>
          <a:p>
            <a:pPr algn="ctr">
              <a:lnSpc>
                <a:spcPct val="100000"/>
              </a:lnSpc>
            </a:pPr>
            <a:r>
              <a:rPr lang="en-US" sz="2400" spc="-100" smtClean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End-term Presentation</a:t>
            </a:r>
            <a:endParaRPr lang="en-US" sz="1100">
              <a:latin typeface="Bebas Neue"/>
            </a:endParaRPr>
          </a:p>
          <a:p>
            <a:pPr algn="ctr">
              <a:lnSpc>
                <a:spcPct val="100000"/>
              </a:lnSpc>
            </a:pPr>
            <a:r>
              <a:rPr lang="en-US" sz="2800" b="0" strike="noStrike" spc="-1" smtClean="0">
                <a:solidFill>
                  <a:srgbClr val="572314"/>
                </a:solidFill>
                <a:latin typeface="Bebas Neue"/>
              </a:rPr>
              <a:t>[</a:t>
            </a:r>
            <a:r>
              <a:rPr lang="en-US" sz="2800" smtClean="0"/>
              <a:t>Al-Based </a:t>
            </a:r>
            <a:r>
              <a:rPr lang="en-US" sz="2800"/>
              <a:t>Phishing Website Detection </a:t>
            </a:r>
            <a:r>
              <a:rPr lang="en-US" sz="2800" smtClean="0"/>
              <a:t>using Hybrid </a:t>
            </a:r>
            <a:r>
              <a:rPr lang="en-US" sz="2800"/>
              <a:t>Feature Learning</a:t>
            </a:r>
            <a:r>
              <a:rPr lang="en-US" sz="2800" b="0" strike="noStrike" spc="-1" smtClean="0">
                <a:solidFill>
                  <a:srgbClr val="572314"/>
                </a:solidFill>
                <a:latin typeface="Bebas Neue"/>
              </a:rPr>
              <a:t>]</a:t>
            </a:r>
            <a:endParaRPr lang="en-US" sz="2800" b="0" strike="noStrike" spc="-1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98612" y="2283718"/>
            <a:ext cx="6400440" cy="647730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>
            <a:normAutofit fontScale="94000"/>
          </a:bodyPr>
          <a:lstStyle/>
          <a:p>
            <a:pPr marL="27360">
              <a:lnSpc>
                <a:spcPct val="100000"/>
              </a:lnSpc>
              <a:spcBef>
                <a:spcPts val="601"/>
              </a:spcBef>
            </a:pPr>
            <a:r>
              <a:rPr lang="en-IN" sz="1700" b="1" strike="noStrike" spc="-1" dirty="0">
                <a:solidFill>
                  <a:srgbClr val="0070C0"/>
                </a:solidFill>
                <a:latin typeface="Gill Sans MT"/>
              </a:rPr>
              <a:t>Supervised By</a:t>
            </a:r>
            <a:r>
              <a:rPr lang="en-IN" sz="1700" b="1" strike="noStrike" spc="-1">
                <a:solidFill>
                  <a:srgbClr val="361309"/>
                </a:solidFill>
                <a:latin typeface="Gill Sans MT"/>
              </a:rPr>
              <a:t>:</a:t>
            </a:r>
            <a:r>
              <a:rPr lang="en-IN" sz="1700" spc="-1">
                <a:latin typeface="Arial"/>
              </a:rPr>
              <a:t> </a:t>
            </a:r>
            <a:r>
              <a:rPr lang="en-IN" sz="1700" b="1" spc="-1">
                <a:solidFill>
                  <a:srgbClr val="361309"/>
                </a:solidFill>
                <a:latin typeface="Gill Sans MT"/>
              </a:rPr>
              <a:t>Mr. Subhasish Mohanty  </a:t>
            </a:r>
            <a:endParaRPr lang="en-IN" sz="1700" b="0" strike="noStrike" spc="-1" dirty="0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95536" y="2859782"/>
            <a:ext cx="3672408" cy="22453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Group </a:t>
            </a:r>
            <a:r>
              <a:rPr lang="en-IN" sz="1400" b="1" strike="noStrike" spc="-1">
                <a:solidFill>
                  <a:srgbClr val="0070C0"/>
                </a:solidFill>
                <a:latin typeface="Gill Sans MT"/>
              </a:rPr>
              <a:t>No</a:t>
            </a:r>
            <a:r>
              <a:rPr lang="en-IN" sz="1400" b="1" strike="noStrike" spc="-1" smtClean="0">
                <a:solidFill>
                  <a:srgbClr val="0070C0"/>
                </a:solidFill>
                <a:latin typeface="Gill Sans MT"/>
              </a:rPr>
              <a:t>.:  26-10</a:t>
            </a:r>
            <a:endParaRPr lang="en-IN" sz="1400" b="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400" b="1" spc="-1">
                <a:solidFill>
                  <a:srgbClr val="000000"/>
                </a:solidFill>
                <a:latin typeface="Gill Sans MT"/>
              </a:rPr>
              <a:t>Piyush Kumar Pradhan(2241016408)</a:t>
            </a:r>
          </a:p>
          <a:p>
            <a:pPr>
              <a:lnSpc>
                <a:spcPct val="100000"/>
              </a:lnSpc>
            </a:pPr>
            <a:r>
              <a:rPr lang="en-IN" sz="1400" b="1" spc="-1">
                <a:solidFill>
                  <a:srgbClr val="000000"/>
                </a:solidFill>
                <a:latin typeface="Gill Sans MT"/>
              </a:rPr>
              <a:t>Raja Kishor Nayak(2241014110)</a:t>
            </a:r>
          </a:p>
          <a:p>
            <a:pPr>
              <a:lnSpc>
                <a:spcPct val="100000"/>
              </a:lnSpc>
            </a:pPr>
            <a:r>
              <a:rPr lang="en-IN" sz="1400" b="1" spc="-1">
                <a:solidFill>
                  <a:srgbClr val="000000"/>
                </a:solidFill>
                <a:latin typeface="Gill Sans MT"/>
              </a:rPr>
              <a:t>Tanmaya Mangaraj(2241013095)</a:t>
            </a:r>
          </a:p>
          <a:p>
            <a:pPr>
              <a:lnSpc>
                <a:spcPct val="100000"/>
              </a:lnSpc>
            </a:pPr>
            <a:r>
              <a:rPr lang="en-IN" sz="1400" b="1" spc="-1">
                <a:solidFill>
                  <a:srgbClr val="000000"/>
                </a:solidFill>
                <a:latin typeface="Gill Sans MT"/>
              </a:rPr>
              <a:t>Aditya Pal(2241016031)</a:t>
            </a:r>
          </a:p>
          <a:p>
            <a:pPr>
              <a:lnSpc>
                <a:spcPct val="100000"/>
              </a:lnSpc>
            </a:pPr>
            <a:r>
              <a:rPr lang="en-IN" sz="1400" b="1" spc="-1">
                <a:solidFill>
                  <a:srgbClr val="000000"/>
                </a:solidFill>
                <a:latin typeface="Gill Sans MT"/>
              </a:rPr>
              <a:t>S Ramananda </a:t>
            </a:r>
            <a:r>
              <a:rPr lang="en-IN" sz="1400" b="1" spc="-1" smtClean="0">
                <a:solidFill>
                  <a:srgbClr val="000000"/>
                </a:solidFill>
                <a:latin typeface="Gill Sans MT"/>
              </a:rPr>
              <a:t>Sagar(2241019007)</a:t>
            </a: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5292080" y="3944752"/>
            <a:ext cx="3728904" cy="10449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Department of Computer Sc. and Engineering</a:t>
            </a:r>
            <a:endParaRPr lang="en-IN" sz="1400" b="1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Gill Sans MT"/>
              </a:rPr>
              <a:t>Faculty of Engineering &amp; Technology (ITER)</a:t>
            </a:r>
            <a:endParaRPr lang="en-IN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Siksha ‘O’ </a:t>
            </a:r>
            <a:r>
              <a:rPr lang="en-IN" sz="1100" b="1" strike="noStrike" spc="-1" dirty="0" err="1">
                <a:solidFill>
                  <a:srgbClr val="000000"/>
                </a:solidFill>
                <a:latin typeface="Gill Sans MT"/>
              </a:rPr>
              <a:t>Anusandhan</a:t>
            </a: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 (Deemed to be) University</a:t>
            </a:r>
            <a:r>
              <a:rPr lang="en-IN" sz="1100" b="0" strike="noStrike" spc="-1" dirty="0">
                <a:solidFill>
                  <a:srgbClr val="000000"/>
                </a:solidFill>
                <a:latin typeface="Gill Sans M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Bhubaneswar, Odisha</a:t>
            </a:r>
            <a:endParaRPr lang="en-IN" sz="1100" b="0" strike="noStrike" spc="-1" dirty="0">
              <a:latin typeface="Arial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0" name="Picture 3"/>
          <p:cNvPicPr/>
          <p:nvPr/>
        </p:nvPicPr>
        <p:blipFill>
          <a:blip r:embed="rId2" cstate="print"/>
          <a:stretch/>
        </p:blipFill>
        <p:spPr>
          <a:xfrm>
            <a:off x="8172400" y="357480"/>
            <a:ext cx="826880" cy="7741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617894" y="73712"/>
            <a:ext cx="8361928" cy="76814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9000" lnSpcReduction="20000"/>
          </a:bodyPr>
          <a:lstStyle/>
          <a:p>
            <a:pPr>
              <a:lnSpc>
                <a:spcPct val="100000"/>
              </a:lnSpc>
            </a:pPr>
            <a:endParaRPr lang="en-US" sz="4700" b="1" strike="noStrike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7700" b="1" strike="noStrike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Presentation Outline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/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endParaRPr lang="en-US" sz="43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755576" y="600782"/>
            <a:ext cx="8086564" cy="4320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Problem Statement &amp; Motivations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Problem Statement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Motivations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Literature Review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400" spc="-1" dirty="0">
                <a:solidFill>
                  <a:srgbClr val="000000"/>
                </a:solidFill>
                <a:latin typeface="Gill Sans MT"/>
              </a:rPr>
              <a:t>Existing Solutions &amp; Limitations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Proposed Methodology &amp; Approach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Key Components/Modules &amp; Algorithms Used</a:t>
            </a:r>
            <a:endParaRPr lang="en-US" sz="1600" spc="-1" dirty="0">
              <a:latin typeface="Gill Sans MT"/>
            </a:endParaRP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 smtClean="0">
                <a:latin typeface="Gill Sans MT"/>
              </a:rPr>
              <a:t>Dataset(s) &amp; </a:t>
            </a:r>
            <a:r>
              <a:rPr lang="en-IN" sz="1600" spc="-1" dirty="0">
                <a:latin typeface="Gill Sans MT"/>
              </a:rPr>
              <a:t>Tools/Technologies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 smtClean="0">
                <a:latin typeface="Gill Sans MT"/>
              </a:rPr>
              <a:t>Experimentation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System </a:t>
            </a:r>
            <a:r>
              <a:rPr lang="en-US" sz="1400" spc="-1" dirty="0" smtClean="0">
                <a:latin typeface="Gill Sans MT"/>
              </a:rPr>
              <a:t>Specification 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 smtClean="0">
                <a:latin typeface="Gill Sans MT"/>
              </a:rPr>
              <a:t>Experimental </a:t>
            </a:r>
            <a:r>
              <a:rPr lang="en-US" sz="1400" spc="-1" dirty="0">
                <a:latin typeface="Gill Sans MT"/>
              </a:rPr>
              <a:t>Results 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 smtClean="0">
                <a:latin typeface="Gill Sans MT"/>
              </a:rPr>
              <a:t>Performance Analysis</a:t>
            </a:r>
            <a:endParaRPr lang="en-IN" sz="1400" spc="-1" dirty="0">
              <a:latin typeface="Gill Sans MT"/>
            </a:endParaRP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 smtClean="0">
                <a:latin typeface="Gill Sans MT"/>
              </a:rPr>
              <a:t>Conclusion and Future Scope</a:t>
            </a:r>
            <a:endParaRPr lang="en-US" sz="1600" spc="-1" dirty="0">
              <a:latin typeface="Gill Sans MT"/>
            </a:endParaRPr>
          </a:p>
          <a:p>
            <a:pPr marL="3657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da-DK" sz="1600" spc="-1" dirty="0">
                <a:latin typeface="Gill Sans MT"/>
              </a:rPr>
              <a:t>References</a:t>
            </a:r>
            <a:endParaRPr lang="en-US" sz="1600" spc="-1" dirty="0">
              <a:latin typeface="Gill Sans MT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4" cstate="print"/>
          <a:stretch/>
        </p:blipFill>
        <p:spPr>
          <a:xfrm>
            <a:off x="8207896" y="0"/>
            <a:ext cx="936104" cy="915566"/>
          </a:xfrm>
          <a:prstGeom prst="rect">
            <a:avLst/>
          </a:prstGeom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4057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Phishing attacks are rapidly increasing and becoming a major cybersecurity threat.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Attackers create fake websites to steal sensitive user data like passwords and banking details.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The main issue is that users often cannot distinguish between legitimate and fraudulent websites.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This problem is critical as it leads to financial loss and data breaches for individuals and organizations.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Therefore, there is a need to develop an intelligent, machine learning-based system for accurate </a:t>
            </a:r>
            <a:r>
              <a:rPr lang="en-US" sz="2400" smtClean="0">
                <a:latin typeface="Gill Sans MT" pitchFamily="34" charset="0"/>
              </a:rPr>
              <a:t>and phishing </a:t>
            </a:r>
            <a:r>
              <a:rPr lang="en-US" sz="2400">
                <a:latin typeface="Gill Sans MT" pitchFamily="34" charset="0"/>
              </a:rPr>
              <a:t>detection.</a:t>
            </a:r>
            <a:endParaRPr lang="en-US" sz="2400" spc="-1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Motivations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400" spc="-1">
                <a:solidFill>
                  <a:srgbClr val="000000"/>
                </a:solidFill>
                <a:latin typeface="Gill Sans MT"/>
              </a:rPr>
              <a:t>Growing phishing and cybercrime attacks globally</a:t>
            </a: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.</a:t>
            </a:r>
            <a:endParaRPr lang="en-US" sz="2400" spc="-1">
              <a:solidFill>
                <a:srgbClr val="000000"/>
              </a:solidFill>
              <a:latin typeface="Gill Sans MT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spc="-1">
                <a:solidFill>
                  <a:srgbClr val="000000"/>
                </a:solidFill>
                <a:latin typeface="Gill Sans MT"/>
              </a:rPr>
              <a:t>A</a:t>
            </a: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utomated </a:t>
            </a:r>
            <a:r>
              <a:rPr lang="en-US" sz="2400" spc="-1">
                <a:solidFill>
                  <a:srgbClr val="000000"/>
                </a:solidFill>
                <a:latin typeface="Gill Sans MT"/>
              </a:rPr>
              <a:t>detection systems are required.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spc="-1">
                <a:solidFill>
                  <a:srgbClr val="000000"/>
                </a:solidFill>
                <a:latin typeface="Gill Sans MT"/>
              </a:rPr>
              <a:t>Conventional blacklist techniques don't work.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spc="-1">
                <a:solidFill>
                  <a:srgbClr val="000000"/>
                </a:solidFill>
                <a:latin typeface="Gill Sans MT"/>
              </a:rPr>
              <a:t>Aids financial systems, organizations, and users.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smtClean="0">
                <a:latin typeface="Gill Sans MT" pitchFamily="34" charset="0"/>
              </a:rPr>
              <a:t>Hybrid </a:t>
            </a:r>
            <a:r>
              <a:rPr lang="en-US" sz="2400">
                <a:latin typeface="Gill Sans MT" pitchFamily="34" charset="0"/>
              </a:rPr>
              <a:t>feature learning improves detection accuracy and efficiency</a:t>
            </a:r>
            <a:r>
              <a:rPr lang="en-US" sz="2400" smtClean="0">
                <a:latin typeface="Gill Sans MT" pitchFamily="34" charset="0"/>
              </a:rPr>
              <a:t>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Enhances overall cybersecurity using Artificial Intelligence and Machine Learning techniques.</a:t>
            </a:r>
            <a:endParaRPr lang="en-US" sz="2400" spc="-1">
              <a:solidFill>
                <a:srgbClr val="000000"/>
              </a:solidFill>
              <a:latin typeface="Gill Sans MT" pitchFamily="34" charset="0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3200" spc="-1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en-US" sz="3600" spc="-1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r>
              <a:rPr dirty="0"/>
              <a:t/>
            </a: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475784" y="1444978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47C9E7DC-9F59-8E73-4E17-BD145ED97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36745"/>
              </p:ext>
            </p:extLst>
          </p:nvPr>
        </p:nvGraphicFramePr>
        <p:xfrm>
          <a:off x="534128" y="1059582"/>
          <a:ext cx="7632848" cy="3748328"/>
        </p:xfrm>
        <a:graphic>
          <a:graphicData uri="http://schemas.openxmlformats.org/drawingml/2006/table">
            <a:tbl>
              <a:tblPr/>
              <a:tblGrid>
                <a:gridCol w="876328">
                  <a:extLst>
                    <a:ext uri="{9D8B030D-6E8A-4147-A177-3AD203B41FA5}">
                      <a16:colId xmlns="" xmlns:a16="http://schemas.microsoft.com/office/drawing/2014/main" val="1724099349"/>
                    </a:ext>
                  </a:extLst>
                </a:gridCol>
                <a:gridCol w="906431">
                  <a:extLst>
                    <a:ext uri="{9D8B030D-6E8A-4147-A177-3AD203B41FA5}">
                      <a16:colId xmlns="" xmlns:a16="http://schemas.microsoft.com/office/drawing/2014/main" val="3311417763"/>
                    </a:ext>
                  </a:extLst>
                </a:gridCol>
                <a:gridCol w="1533960">
                  <a:extLst>
                    <a:ext uri="{9D8B030D-6E8A-4147-A177-3AD203B41FA5}">
                      <a16:colId xmlns="" xmlns:a16="http://schemas.microsoft.com/office/drawing/2014/main" val="674294725"/>
                    </a:ext>
                  </a:extLst>
                </a:gridCol>
                <a:gridCol w="1603685">
                  <a:extLst>
                    <a:ext uri="{9D8B030D-6E8A-4147-A177-3AD203B41FA5}">
                      <a16:colId xmlns="" xmlns:a16="http://schemas.microsoft.com/office/drawing/2014/main" val="1914132485"/>
                    </a:ext>
                  </a:extLst>
                </a:gridCol>
                <a:gridCol w="1324783">
                  <a:extLst>
                    <a:ext uri="{9D8B030D-6E8A-4147-A177-3AD203B41FA5}">
                      <a16:colId xmlns="" xmlns:a16="http://schemas.microsoft.com/office/drawing/2014/main" val="3409910383"/>
                    </a:ext>
                  </a:extLst>
                </a:gridCol>
                <a:gridCol w="1387661">
                  <a:extLst>
                    <a:ext uri="{9D8B030D-6E8A-4147-A177-3AD203B41FA5}">
                      <a16:colId xmlns="" xmlns:a16="http://schemas.microsoft.com/office/drawing/2014/main" val="3300975957"/>
                    </a:ext>
                  </a:extLst>
                </a:gridCol>
              </a:tblGrid>
              <a:tr h="177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S. No.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Author &amp; Year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Methods/Techniques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Dataset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Gill Sans MT" pitchFamily="34" charset="0"/>
                        </a:rPr>
                        <a:t> Research </a:t>
                      </a:r>
                      <a:r>
                        <a:rPr lang="en-IN" sz="1100" b="1" dirty="0">
                          <a:latin typeface="Gill Sans MT" pitchFamily="34" charset="0"/>
                        </a:rPr>
                        <a:t>Outcomes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Findings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8053993"/>
                  </a:ext>
                </a:extLst>
              </a:tr>
              <a:tr h="973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1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Nusrath Tabassum, et al. (2021)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Hybrid ensemble combining </a:t>
                      </a:r>
                      <a:r>
                        <a:rPr lang="en-US" sz="1000" b="1" smtClean="0">
                          <a:latin typeface="Gill Sans MT" pitchFamily="34" charset="0"/>
                        </a:rPr>
                        <a:t>SVM, Decision Tree, Random Forest, and XGBoost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using bagging and boosting concepts; feature ranking via RF and XGBoost.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Collected from </a:t>
                      </a:r>
                      <a:r>
                        <a:rPr lang="en-US" sz="1000" b="1" smtClean="0">
                          <a:latin typeface="Gill Sans MT" pitchFamily="34" charset="0"/>
                        </a:rPr>
                        <a:t>UCI machine learning repository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(11,055 URLs: 4,898 legitimate, 6,157 phishing).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Accuracy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98.28%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F1 score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0.98%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AUC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0.92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Recall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0.98%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CNNs are better at recognizing complex features in malicious URLs. DL models provide enhanced classification precision and adaptability over traditional and baseline ML models.</a:t>
                      </a:r>
                      <a:endParaRPr lang="en-US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27779618"/>
                  </a:ext>
                </a:extLst>
              </a:tr>
              <a:tr h="18919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smtClean="0">
                          <a:solidFill>
                            <a:schemeClr val="tx1"/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2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Sumitra Das Guptta, et al. (2022)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Hybrid feature-based strategy using </a:t>
                      </a:r>
                      <a:r>
                        <a:rPr lang="en-US" sz="1000" b="1" smtClean="0">
                          <a:latin typeface="Gill Sans MT" pitchFamily="34" charset="0"/>
                        </a:rPr>
                        <a:t>URL and client-side hyperlink features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; classification via XGBoost, RF, DT, and SVM.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Developed a new dataset of </a:t>
                      </a:r>
                      <a:r>
                        <a:rPr lang="en-US" sz="1000" b="1" smtClean="0">
                          <a:latin typeface="Gill Sans MT" pitchFamily="34" charset="0"/>
                        </a:rPr>
                        <a:t>6,000 URLs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(3,000 phishing from PhishTank, 3,000 legitimate from Alexa/UNB).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Accuracy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99.17%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F1 score :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0.99%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AUC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0.9989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Recall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98.81%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Combining interpretable feature reduction (RSTHFS) with residual deep learning yields robustness, scalability, and transparency for real-world cybersecurity deployments.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744712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221514" y="457783"/>
            <a:ext cx="7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Table 1:Summary of Existing Approaches and Research </a:t>
            </a:r>
            <a:r>
              <a:rPr lang="en-IN" sz="1200" dirty="0"/>
              <a:t>Limitations</a:t>
            </a:r>
          </a:p>
          <a:p>
            <a:pPr algn="ctr"/>
            <a:endParaRPr lang="en-IN" sz="1200" dirty="0"/>
          </a:p>
          <a:p>
            <a:pPr algn="ctr"/>
            <a:endParaRPr lang="en-IN" sz="1200" dirty="0"/>
          </a:p>
          <a:p>
            <a:endParaRPr lang="en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r>
              <a:rPr dirty="0"/>
              <a:t/>
            </a: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475784" y="1444978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6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210600" y="425322"/>
            <a:ext cx="7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Table </a:t>
            </a:r>
            <a:r>
              <a:rPr lang="en-US" sz="1200" smtClean="0"/>
              <a:t>2:Summary </a:t>
            </a:r>
            <a:r>
              <a:rPr lang="en-US" sz="1200" dirty="0"/>
              <a:t>of Existing Approaches and Research </a:t>
            </a:r>
            <a:r>
              <a:rPr lang="en-IN" sz="1200" dirty="0"/>
              <a:t>Limitations</a:t>
            </a:r>
          </a:p>
          <a:p>
            <a:pPr algn="ctr"/>
            <a:endParaRPr lang="en-IN" sz="1200" dirty="0"/>
          </a:p>
          <a:p>
            <a:pPr algn="ctr"/>
            <a:endParaRPr lang="en-IN" sz="1200" dirty="0"/>
          </a:p>
          <a:p>
            <a:endParaRPr lang="en-IN" sz="1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97262"/>
              </p:ext>
            </p:extLst>
          </p:nvPr>
        </p:nvGraphicFramePr>
        <p:xfrm>
          <a:off x="475784" y="944414"/>
          <a:ext cx="7632848" cy="4147616"/>
        </p:xfrm>
        <a:graphic>
          <a:graphicData uri="http://schemas.openxmlformats.org/drawingml/2006/table">
            <a:tbl>
              <a:tblPr/>
              <a:tblGrid>
                <a:gridCol w="876328"/>
                <a:gridCol w="906431"/>
                <a:gridCol w="1533960"/>
                <a:gridCol w="1603685"/>
                <a:gridCol w="1324783"/>
                <a:gridCol w="1387661"/>
              </a:tblGrid>
              <a:tr h="442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S. No.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Author &amp; Year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Methods/Techniques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Dataset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Gill Sans MT" pitchFamily="34" charset="0"/>
                        </a:rPr>
                        <a:t> Research </a:t>
                      </a:r>
                      <a:r>
                        <a:rPr lang="en-IN" sz="1100" b="1" dirty="0">
                          <a:latin typeface="Gill Sans MT" pitchFamily="34" charset="0"/>
                        </a:rPr>
                        <a:t>Outcomes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Findings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149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3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v-SE" sz="1000" smtClean="0">
                          <a:latin typeface="Gill Sans MT" pitchFamily="34" charset="0"/>
                        </a:rPr>
                        <a:t>Mukta Mithra Raj and J. Angel Arul Jothi (2022</a:t>
                      </a:r>
                      <a:r>
                        <a:rPr lang="sv-SE" sz="1000" smtClean="0">
                          <a:latin typeface="Gill Sans MT" pitchFamily="34" charset="0"/>
                        </a:rPr>
                        <a:t>)</a:t>
                      </a:r>
                    </a:p>
                    <a:p>
                      <a:pPr algn="l">
                        <a:buNone/>
                      </a:pPr>
                      <a:r>
                        <a:rPr lang="sv-SE" sz="1000" smtClean="0">
                          <a:latin typeface="Gill Sans MT" pitchFamily="34" charset="0"/>
                        </a:rPr>
                        <a:t>(Base Paper)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Eight baseline machine learning classifiers (XGBoost, RF, AdaBoost, DT, KNN, SVM, LR, NB) and developed hybrid models utilizing a voting classifier.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A Kaggle phishing websites dataset encompassing over 11,000 URLs with 30 specific attributes.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Accuracy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92.07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%.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F1 score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90.2%</a:t>
                      </a:r>
                      <a:endParaRPr lang="en-US" sz="1000" smtClean="0">
                        <a:latin typeface="Gill Sans MT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mtClean="0">
                          <a:latin typeface="Gill Sans MT" pitchFamily="34" charset="0"/>
                        </a:rPr>
                        <a:t>AUC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Not reported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mtClean="0">
                          <a:latin typeface="Gill Sans MT" pitchFamily="34" charset="0"/>
                        </a:rPr>
                        <a:t>Recall :</a:t>
                      </a:r>
                      <a:r>
                        <a:rPr lang="en-US" sz="1000" b="1" baseline="0" smtClean="0">
                          <a:latin typeface="Gill Sans MT" pitchFamily="34" charset="0"/>
                        </a:rPr>
                        <a:t>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Not reported</a:t>
                      </a:r>
                    </a:p>
                    <a:p>
                      <a:endParaRPr lang="en-US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Feature selection did not actually enhance classification performance. The efficiency of the classifiers decreased substantially as the number of attributes was reduced, indicating that when a dataset is noise-free.</a:t>
                      </a:r>
                      <a:endParaRPr lang="en-US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04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smtClean="0">
                          <a:solidFill>
                            <a:schemeClr val="tx1"/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4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a-DK" sz="1000" smtClean="0">
                          <a:latin typeface="Gill Sans MT" pitchFamily="34" charset="0"/>
                        </a:rPr>
                        <a:t>Rekha Pal, et al. (2023) 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Applied multi-stage feature selection and used optimized features in various ML models to compare and evaluate overall classification performance.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The UCI Phishing Guide Classification dataset containing 11,054 URLs (55.69% legitimate and 44.31% phishing).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Accuracy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97.48%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mtClean="0">
                          <a:latin typeface="Gill Sans MT" pitchFamily="34" charset="0"/>
                        </a:rPr>
                        <a:t>F1 score :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Not reported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AUC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100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mtClean="0">
                          <a:latin typeface="Gill Sans MT" pitchFamily="34" charset="0"/>
                        </a:rPr>
                        <a:t>Recall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Not reported</a:t>
                      </a:r>
                    </a:p>
                    <a:p>
                      <a:endParaRPr lang="en-US" sz="1000" smtClean="0">
                        <a:latin typeface="Gill Sans MT" pitchFamily="34" charset="0"/>
                      </a:endParaRPr>
                    </a:p>
                    <a:p>
                      <a:pPr marL="0" algn="l" defTabSz="914400" rtl="0" eaLnBrk="1" latinLnBrk="0" hangingPunct="1">
                        <a:buNone/>
                      </a:pP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Logit (LR) model selected 25 key features, reducing overfitting risk.</a:t>
                      </a:r>
                      <a:br>
                        <a:rPr lang="en-US" sz="1000" smtClean="0">
                          <a:latin typeface="Gill Sans MT" pitchFamily="34" charset="0"/>
                        </a:rPr>
                      </a:br>
                      <a:r>
                        <a:rPr lang="en-US" sz="1000" smtClean="0">
                          <a:latin typeface="Gill Sans MT" pitchFamily="34" charset="0"/>
                        </a:rPr>
                        <a:t>RF</a:t>
                      </a:r>
                      <a:r>
                        <a:rPr lang="en-US" sz="1000" baseline="0" smtClean="0">
                          <a:latin typeface="Gill Sans MT" pitchFamily="34" charset="0"/>
                        </a:rPr>
                        <a:t>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achieved the highest performance among all classifiers.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48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r>
              <a:rPr dirty="0"/>
              <a:t/>
            </a: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475784" y="1444978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7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210600" y="425322"/>
            <a:ext cx="7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Table </a:t>
            </a:r>
            <a:r>
              <a:rPr lang="en-US" sz="1200" smtClean="0"/>
              <a:t>3:Summary </a:t>
            </a:r>
            <a:r>
              <a:rPr lang="en-US" sz="1200" dirty="0"/>
              <a:t>of Existing Approaches and Research </a:t>
            </a:r>
            <a:r>
              <a:rPr lang="en-IN" sz="1200" dirty="0"/>
              <a:t>Limitations</a:t>
            </a:r>
          </a:p>
          <a:p>
            <a:pPr algn="ctr"/>
            <a:endParaRPr lang="en-IN" sz="1200" dirty="0"/>
          </a:p>
          <a:p>
            <a:pPr algn="ctr"/>
            <a:endParaRPr lang="en-IN" sz="1200" dirty="0"/>
          </a:p>
          <a:p>
            <a:endParaRPr lang="en-IN" sz="1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573755"/>
              </p:ext>
            </p:extLst>
          </p:nvPr>
        </p:nvGraphicFramePr>
        <p:xfrm>
          <a:off x="475784" y="944414"/>
          <a:ext cx="7632848" cy="4147616"/>
        </p:xfrm>
        <a:graphic>
          <a:graphicData uri="http://schemas.openxmlformats.org/drawingml/2006/table">
            <a:tbl>
              <a:tblPr/>
              <a:tblGrid>
                <a:gridCol w="876328"/>
                <a:gridCol w="906431"/>
                <a:gridCol w="1533960"/>
                <a:gridCol w="1603685"/>
                <a:gridCol w="1324783"/>
                <a:gridCol w="1387661"/>
              </a:tblGrid>
              <a:tr h="442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S. No.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Author &amp; Year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Methods/Techniques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Dataset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Gill Sans MT" pitchFamily="34" charset="0"/>
                        </a:rPr>
                        <a:t> Research </a:t>
                      </a:r>
                      <a:r>
                        <a:rPr lang="en-IN" sz="1100" b="1" dirty="0">
                          <a:latin typeface="Gill Sans MT" pitchFamily="34" charset="0"/>
                        </a:rPr>
                        <a:t>Outcomes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Findings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149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5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Kavya S &amp; Sumathi D (2024)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Stacking ensemble framework utilizing </a:t>
                      </a:r>
                      <a:r>
                        <a:rPr lang="en-US" sz="1000" b="1" smtClean="0">
                          <a:latin typeface="Gill Sans MT" pitchFamily="34" charset="0"/>
                        </a:rPr>
                        <a:t>LSTM, CNN, Random Forest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, and </a:t>
                      </a:r>
                      <a:r>
                        <a:rPr lang="en-US" sz="1000" b="1" smtClean="0">
                          <a:latin typeface="Gill Sans MT" pitchFamily="34" charset="0"/>
                        </a:rPr>
                        <a:t>Genetic Algorithms (GA)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for feature selection.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Over </a:t>
                      </a:r>
                      <a:r>
                        <a:rPr lang="en-US" sz="1000" b="1" smtClean="0">
                          <a:latin typeface="Gill Sans MT" pitchFamily="34" charset="0"/>
                        </a:rPr>
                        <a:t>30,000 samples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(balanced</a:t>
                      </a:r>
                      <a:r>
                        <a:rPr lang="en-US" sz="1000" baseline="0" smtClean="0">
                          <a:latin typeface="Gill Sans MT" pitchFamily="34" charset="0"/>
                        </a:rPr>
                        <a:t>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benign/phishing) supplemented by WHOIS, SSL, and DNS data.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Accuracy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97.1%.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F1 score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96.4%.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AUC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0.97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Recall :</a:t>
                      </a:r>
                      <a:r>
                        <a:rPr lang="en-US" sz="1000" b="1" baseline="0" smtClean="0">
                          <a:latin typeface="Gill Sans MT" pitchFamily="34" charset="0"/>
                        </a:rPr>
                        <a:t>  </a:t>
                      </a:r>
                      <a:r>
                        <a:rPr lang="en-US" sz="1000" b="0" baseline="0" smtClean="0">
                          <a:latin typeface="Gill Sans MT" pitchFamily="34" charset="0"/>
                        </a:rPr>
                        <a:t>96.5%</a:t>
                      </a:r>
                      <a:endParaRPr lang="en-US" sz="1000" b="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Combining temporal (LSTM), visual (CNN), and structured data (RF) captures diverse and complex phishing patterns frequently missed by single models.</a:t>
                      </a:r>
                      <a:endParaRPr lang="en-US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04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smtClean="0">
                          <a:solidFill>
                            <a:schemeClr val="tx1"/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6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000" smtClean="0">
                          <a:latin typeface="Gill Sans MT" pitchFamily="34" charset="0"/>
                        </a:rPr>
                        <a:t>Rangaswamy K, et al.</a:t>
                      </a:r>
                      <a:br>
                        <a:rPr lang="nl-NL" sz="1000" smtClean="0">
                          <a:latin typeface="Gill Sans MT" pitchFamily="34" charset="0"/>
                        </a:rPr>
                      </a:br>
                      <a:r>
                        <a:rPr lang="nl-NL" sz="1000" smtClean="0">
                          <a:latin typeface="Gill Sans MT" pitchFamily="34" charset="0"/>
                        </a:rPr>
                        <a:t>(Jan 2025)</a:t>
                      </a:r>
                      <a:endParaRPr lang="nl-NL" sz="100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Decision Trees, Random Forests (baseline); Gated Recurrent Units (GRU), Convolutional Neural Networks (CNN). Included URL normalization and tokenization.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Phishing Site URLs from Kaggle (549,000 entries) and a refined feature subset (11,430 records).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Accuracy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98.00%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F1 score : </a:t>
                      </a:r>
                      <a:r>
                        <a:rPr lang="en-US" sz="1000" b="0" smtClean="0">
                          <a:latin typeface="Gill Sans MT" pitchFamily="34" charset="0"/>
                        </a:rPr>
                        <a:t>97.00%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AUC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Not reported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Recall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 96.00%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CNNs outperformed GRUs by effectively capturing spatial and sequential URL patterns, proving to be a robust and scalable automated detection system.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424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r>
              <a:rPr dirty="0"/>
              <a:t/>
            </a: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475784" y="1444978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8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210600" y="425322"/>
            <a:ext cx="7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Table </a:t>
            </a:r>
            <a:r>
              <a:rPr lang="en-US" sz="1200" smtClean="0"/>
              <a:t>4:Summary </a:t>
            </a:r>
            <a:r>
              <a:rPr lang="en-US" sz="1200" dirty="0"/>
              <a:t>of Existing Approaches and Research </a:t>
            </a:r>
            <a:r>
              <a:rPr lang="en-IN" sz="1200" dirty="0"/>
              <a:t>Limitations</a:t>
            </a:r>
          </a:p>
          <a:p>
            <a:pPr algn="ctr"/>
            <a:endParaRPr lang="en-IN" sz="1200" dirty="0"/>
          </a:p>
          <a:p>
            <a:pPr algn="ctr"/>
            <a:endParaRPr lang="en-IN" sz="1200" dirty="0"/>
          </a:p>
          <a:p>
            <a:endParaRPr lang="en-IN" sz="1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452013"/>
              </p:ext>
            </p:extLst>
          </p:nvPr>
        </p:nvGraphicFramePr>
        <p:xfrm>
          <a:off x="475784" y="944414"/>
          <a:ext cx="7632848" cy="4147616"/>
        </p:xfrm>
        <a:graphic>
          <a:graphicData uri="http://schemas.openxmlformats.org/drawingml/2006/table">
            <a:tbl>
              <a:tblPr/>
              <a:tblGrid>
                <a:gridCol w="876328"/>
                <a:gridCol w="906431"/>
                <a:gridCol w="1533960"/>
                <a:gridCol w="1603685"/>
                <a:gridCol w="1324783"/>
                <a:gridCol w="1387661"/>
              </a:tblGrid>
              <a:tr h="442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S. No.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Author &amp; Year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Methods/Techniques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Dataset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Gill Sans MT" pitchFamily="34" charset="0"/>
                        </a:rPr>
                        <a:t> Research </a:t>
                      </a:r>
                      <a:r>
                        <a:rPr lang="en-IN" sz="1100" b="1" dirty="0">
                          <a:latin typeface="Gill Sans MT" pitchFamily="34" charset="0"/>
                        </a:rPr>
                        <a:t>Outcomes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Findings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149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7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smtClean="0">
                          <a:latin typeface="Gill Sans MT" pitchFamily="34" charset="0"/>
                        </a:rPr>
                        <a:t>K. Pavan Sankar &amp; P. Bhaskar Naidu</a:t>
                      </a:r>
                      <a:br>
                        <a:rPr lang="en-US" sz="1000" smtClean="0">
                          <a:latin typeface="Gill Sans MT" pitchFamily="34" charset="0"/>
                        </a:rPr>
                      </a:br>
                      <a:r>
                        <a:rPr lang="en-US" sz="1000" smtClean="0">
                          <a:latin typeface="Gill Sans MT" pitchFamily="34" charset="0"/>
                        </a:rPr>
                        <a:t>(May 2025)</a:t>
                      </a:r>
                      <a:endParaRPr lang="en-US" sz="100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Hybrid LSD model (Logistic Regression, SVM, Decision Tree) with voting schemes; 1D Convolutional Neural Network (CNN).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Phish Tank, UNB, and Alexa datasets (200,000 phishing and 200,000 legitimate URLs).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Accuracy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99.70%.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F1 score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95.91%.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AUC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Not</a:t>
                      </a:r>
                      <a:r>
                        <a:rPr lang="en-US" sz="1000" baseline="0" smtClean="0">
                          <a:latin typeface="Gill Sans MT" pitchFamily="34" charset="0"/>
                        </a:rPr>
                        <a:t> reported</a:t>
                      </a:r>
                      <a:endParaRPr lang="en-US" sz="1000" smtClean="0">
                        <a:latin typeface="Gill Sans MT" pitchFamily="34" charset="0"/>
                      </a:endParaRP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Recall :</a:t>
                      </a:r>
                      <a:r>
                        <a:rPr lang="en-US" sz="1000" b="1" baseline="0" smtClean="0">
                          <a:latin typeface="Gill Sans MT" pitchFamily="34" charset="0"/>
                        </a:rPr>
                        <a:t>  </a:t>
                      </a:r>
                      <a:r>
                        <a:rPr lang="en-US" sz="1000" b="0" baseline="0" smtClean="0">
                          <a:latin typeface="Gill Sans MT" pitchFamily="34" charset="0"/>
                        </a:rPr>
                        <a:t>96.00%</a:t>
                      </a:r>
                      <a:endParaRPr lang="en-US" sz="1000" b="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The hybrid ensemble and 1D CNN frameworks significantly surpassed traditional standalone classifiers, serving as highly effective tools against deceptive URLs.</a:t>
                      </a:r>
                      <a:endParaRPr lang="en-US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04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smtClean="0">
                          <a:solidFill>
                            <a:schemeClr val="tx1"/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8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smtClean="0">
                          <a:latin typeface="Gill Sans MT" pitchFamily="34" charset="0"/>
                        </a:rPr>
                        <a:t>Ashvini Jadhav &amp; Pankaj Chandre</a:t>
                      </a:r>
                      <a:br>
                        <a:rPr lang="en-US" sz="1000" smtClean="0">
                          <a:latin typeface="Gill Sans MT" pitchFamily="34" charset="0"/>
                        </a:rPr>
                      </a:br>
                      <a:r>
                        <a:rPr lang="en-US" sz="1000" smtClean="0">
                          <a:latin typeface="Gill Sans MT" pitchFamily="34" charset="0"/>
                        </a:rPr>
                        <a:t>(Oct 2025)</a:t>
                      </a:r>
                      <a:endParaRPr lang="en-US" sz="100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Hybrid machine learning combined with heuristic rule-based frameworks; Variance thresholding, RFE, Random Forest, XGBoost, and CatBoost.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Five diverse datasets including UCI URL, Mendeley, and PhiUSIIL (combining URLs, HTML features, and email headers).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Accuracy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95.80%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F1 score :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Not reported</a:t>
                      </a:r>
                      <a:endParaRPr lang="en-US" sz="1000" b="0" smtClean="0">
                        <a:latin typeface="Gill Sans MT" pitchFamily="34" charset="0"/>
                      </a:endParaRP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AUC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Not reported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Recall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 Not reported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Combining heuristic-guided feature selection with hybrid data integration greatly improves scalability, stability, and policy-compliant detection across multiple domains.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056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r>
              <a:rPr dirty="0"/>
              <a:t/>
            </a: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475784" y="1444978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9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210600" y="425322"/>
            <a:ext cx="7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Table </a:t>
            </a:r>
            <a:r>
              <a:rPr lang="en-US" sz="1200" smtClean="0"/>
              <a:t>5:Summary </a:t>
            </a:r>
            <a:r>
              <a:rPr lang="en-US" sz="1200" dirty="0"/>
              <a:t>of Existing Approaches and Research </a:t>
            </a:r>
            <a:r>
              <a:rPr lang="en-IN" sz="1200" dirty="0"/>
              <a:t>Limitations</a:t>
            </a:r>
          </a:p>
          <a:p>
            <a:pPr algn="ctr"/>
            <a:endParaRPr lang="en-IN" sz="1200" dirty="0"/>
          </a:p>
          <a:p>
            <a:pPr algn="ctr"/>
            <a:endParaRPr lang="en-IN" sz="1200" dirty="0"/>
          </a:p>
          <a:p>
            <a:endParaRPr lang="en-IN" sz="1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898474"/>
              </p:ext>
            </p:extLst>
          </p:nvPr>
        </p:nvGraphicFramePr>
        <p:xfrm>
          <a:off x="475784" y="944414"/>
          <a:ext cx="7632848" cy="4172581"/>
        </p:xfrm>
        <a:graphic>
          <a:graphicData uri="http://schemas.openxmlformats.org/drawingml/2006/table">
            <a:tbl>
              <a:tblPr/>
              <a:tblGrid>
                <a:gridCol w="876328"/>
                <a:gridCol w="906431"/>
                <a:gridCol w="1533960"/>
                <a:gridCol w="1603685"/>
                <a:gridCol w="1324783"/>
                <a:gridCol w="1387661"/>
              </a:tblGrid>
              <a:tr h="442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S. No.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Author &amp; Year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Methods/Techniques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Dataset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Gill Sans MT" pitchFamily="34" charset="0"/>
                        </a:rPr>
                        <a:t> Research </a:t>
                      </a:r>
                      <a:r>
                        <a:rPr lang="en-IN" sz="1100" b="1" dirty="0">
                          <a:latin typeface="Gill Sans MT" pitchFamily="34" charset="0"/>
                        </a:rPr>
                        <a:t>Outcomes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Findings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149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9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smtClean="0">
                          <a:latin typeface="Gill Sans MT" pitchFamily="34" charset="0"/>
                        </a:rPr>
                        <a:t>Wakchaure Sanchit Sanjay, et al.</a:t>
                      </a:r>
                      <a:br>
                        <a:rPr lang="fr-FR" sz="1000" smtClean="0">
                          <a:latin typeface="Gill Sans MT" pitchFamily="34" charset="0"/>
                        </a:rPr>
                      </a:br>
                      <a:r>
                        <a:rPr lang="fr-FR" sz="1000" smtClean="0">
                          <a:latin typeface="Gill Sans MT" pitchFamily="34" charset="0"/>
                        </a:rPr>
                        <a:t>(Nov 2025)</a:t>
                      </a:r>
                      <a:endParaRPr lang="fr-FR" sz="100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Rough Set Theory-Based Hybrid Feature Selection (RSTHFS) combined with a deep Residual Multi-Layer Perceptron (ResMLP).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Open-source datasets drawn from Kaggle, UCI, and Mendeley (120,000 total URLs).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Accuracy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98.29%.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F1 score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98.20%.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AUC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0.98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Recall :</a:t>
                      </a:r>
                      <a:r>
                        <a:rPr lang="en-US" sz="1000" b="1" baseline="0" smtClean="0">
                          <a:latin typeface="Gill Sans MT" pitchFamily="34" charset="0"/>
                        </a:rPr>
                        <a:t>  </a:t>
                      </a:r>
                      <a:r>
                        <a:rPr lang="en-US" sz="1000" b="0" baseline="0" smtClean="0">
                          <a:latin typeface="Gill Sans MT" pitchFamily="34" charset="0"/>
                        </a:rPr>
                        <a:t>97.90%</a:t>
                      </a:r>
                      <a:endParaRPr lang="en-US" sz="1000" b="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The</a:t>
                      </a:r>
                      <a:r>
                        <a:rPr lang="en-US" sz="1000" baseline="0" smtClean="0">
                          <a:latin typeface="Gill Sans MT" pitchFamily="34" charset="0"/>
                        </a:rPr>
                        <a:t>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RSTHFS+ResMLP pipeline successfully cut the necessary feature space by ~69% and training time by 61%, maintaining top-tier accuracy alongside high explainability.</a:t>
                      </a:r>
                      <a:endParaRPr lang="en-US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904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smtClean="0">
                          <a:solidFill>
                            <a:schemeClr val="tx1"/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10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smtClean="0">
                          <a:latin typeface="Gill Sans MT" pitchFamily="34" charset="0"/>
                        </a:rPr>
                        <a:t>Raheleh Ghadami &amp; Javad Rahebi</a:t>
                      </a:r>
                      <a:br>
                        <a:rPr lang="en-US" sz="1000" smtClean="0">
                          <a:latin typeface="Gill Sans MT" pitchFamily="34" charset="0"/>
                        </a:rPr>
                      </a:br>
                      <a:r>
                        <a:rPr lang="en-US" sz="1000" smtClean="0">
                          <a:latin typeface="Gill Sans MT" pitchFamily="34" charset="0"/>
                        </a:rPr>
                        <a:t>(Dec 2025)</a:t>
                      </a:r>
                      <a:endParaRPr lang="en-US" sz="100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GAN + DPCA for data augmentation; CNN-GRU-FMRCNN for feature extraction; BKA, ANOVA, and Spearman for selection; SVM for classification.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PhishTank (augmented to a 10k/10k balanced set) and ISCX-URL-2016 datasets.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Accuracy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99.53%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F1 score :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Not reported</a:t>
                      </a:r>
                      <a:endParaRPr lang="en-US" sz="1000" b="0" smtClean="0">
                        <a:latin typeface="Gill Sans MT" pitchFamily="34" charset="0"/>
                      </a:endParaRP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AUC :</a:t>
                      </a:r>
                      <a:r>
                        <a:rPr lang="en-US" sz="1000" b="1" baseline="0" smtClean="0">
                          <a:latin typeface="Gill Sans MT" pitchFamily="34" charset="0"/>
                        </a:rPr>
                        <a:t> </a:t>
                      </a:r>
                      <a:r>
                        <a:rPr lang="en-US" sz="1000" b="0" baseline="0" smtClean="0">
                          <a:latin typeface="Gill Sans MT" pitchFamily="34" charset="0"/>
                        </a:rPr>
                        <a:t>0.95</a:t>
                      </a:r>
                      <a:endParaRPr lang="en-US" sz="1000" b="0" smtClean="0">
                        <a:latin typeface="Gill Sans MT" pitchFamily="34" charset="0"/>
                      </a:endParaRP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Recall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 98.37%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Integrating GAN augmentation with spatial-temporal feature extraction (FMRCNN) effectively resolves class imbalance and heavily improves the detection of complex zero-day attacks.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083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r>
              <a:rPr dirty="0"/>
              <a:t/>
            </a: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475784" y="1444978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10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210600" y="425322"/>
            <a:ext cx="7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Table </a:t>
            </a:r>
            <a:r>
              <a:rPr lang="en-US" sz="1200" smtClean="0"/>
              <a:t>6:Summary </a:t>
            </a:r>
            <a:r>
              <a:rPr lang="en-US" sz="1200" dirty="0"/>
              <a:t>of Existing Approaches and Research </a:t>
            </a:r>
            <a:r>
              <a:rPr lang="en-IN" sz="1200" dirty="0"/>
              <a:t>Limitations</a:t>
            </a:r>
          </a:p>
          <a:p>
            <a:pPr algn="ctr"/>
            <a:endParaRPr lang="en-IN" sz="1200" dirty="0"/>
          </a:p>
          <a:p>
            <a:pPr algn="ctr"/>
            <a:endParaRPr lang="en-IN" sz="1200" dirty="0"/>
          </a:p>
          <a:p>
            <a:endParaRPr lang="en-IN" sz="1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718805"/>
              </p:ext>
            </p:extLst>
          </p:nvPr>
        </p:nvGraphicFramePr>
        <p:xfrm>
          <a:off x="475784" y="752366"/>
          <a:ext cx="7632848" cy="4267656"/>
        </p:xfrm>
        <a:graphic>
          <a:graphicData uri="http://schemas.openxmlformats.org/drawingml/2006/table">
            <a:tbl>
              <a:tblPr/>
              <a:tblGrid>
                <a:gridCol w="876328"/>
                <a:gridCol w="906431"/>
                <a:gridCol w="1533960"/>
                <a:gridCol w="1603685"/>
                <a:gridCol w="1324783"/>
                <a:gridCol w="1387661"/>
              </a:tblGrid>
              <a:tr h="442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S. No.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Author &amp; Year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Methods/Techniques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Dataset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>
                          <a:latin typeface="Gill Sans MT" pitchFamily="34" charset="0"/>
                        </a:rPr>
                        <a:t> Research </a:t>
                      </a:r>
                      <a:r>
                        <a:rPr lang="en-IN" sz="1100" b="1" dirty="0">
                          <a:latin typeface="Gill Sans MT" pitchFamily="34" charset="0"/>
                        </a:rPr>
                        <a:t>Outcomes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Gill Sans MT" pitchFamily="34" charset="0"/>
                        </a:rPr>
                        <a:t>Findings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1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>
                          <a:latin typeface="Gill Sans MT" pitchFamily="34" charset="0"/>
                        </a:rPr>
                        <a:t>11</a:t>
                      </a:r>
                      <a:endParaRPr lang="en-IN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smtClean="0"/>
                        <a:t>A. Sravanthi, A. Anjum Kousar, Anushka R Dabole, Grietje Junita G, and Dr. S Elango </a:t>
                      </a:r>
                      <a:r>
                        <a:rPr lang="fr-FR" sz="1000" smtClean="0">
                          <a:latin typeface="Gill Sans MT" pitchFamily="34" charset="0"/>
                        </a:rPr>
                        <a:t/>
                      </a:r>
                      <a:br>
                        <a:rPr lang="fr-FR" sz="1000" smtClean="0">
                          <a:latin typeface="Gill Sans MT" pitchFamily="34" charset="0"/>
                        </a:rPr>
                      </a:br>
                      <a:r>
                        <a:rPr lang="fr-FR" sz="1000" smtClean="0">
                          <a:latin typeface="Gill Sans MT" pitchFamily="34" charset="0"/>
                        </a:rPr>
                        <a:t>(April 2026)</a:t>
                      </a:r>
                      <a:endParaRPr lang="fr-FR" sz="100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/>
                        <a:t>A Hybrid approach integrating feature-based </a:t>
                      </a:r>
                      <a:r>
                        <a:rPr lang="en-US" sz="1100" b="1" smtClean="0"/>
                        <a:t>Random Forest</a:t>
                      </a:r>
                      <a:r>
                        <a:rPr lang="en-US" sz="1100" smtClean="0"/>
                        <a:t> (Machine Learning) with sequence-based </a:t>
                      </a:r>
                      <a:r>
                        <a:rPr lang="en-US" sz="1100" b="1" smtClean="0"/>
                        <a:t>Long Short-Term Memory (LSTM)</a:t>
                      </a:r>
                      <a:r>
                        <a:rPr lang="en-US" sz="1100" smtClean="0"/>
                        <a:t> (Deep Learning) models.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smtClean="0"/>
                        <a:t>Publicly available datasets from </a:t>
                      </a:r>
                      <a:r>
                        <a:rPr lang="en-US" sz="1100" b="1" smtClean="0"/>
                        <a:t>UCI Machine Learning Repository</a:t>
                      </a:r>
                      <a:r>
                        <a:rPr lang="en-US" sz="1100" smtClean="0"/>
                        <a:t>, </a:t>
                      </a:r>
                      <a:r>
                        <a:rPr lang="en-US" sz="1100" b="1" smtClean="0"/>
                        <a:t>Kaggle</a:t>
                      </a:r>
                      <a:r>
                        <a:rPr lang="en-US" sz="1100" smtClean="0"/>
                        <a:t>, and real-time phishing URLs from </a:t>
                      </a:r>
                      <a:r>
                        <a:rPr lang="en-US" sz="1100" b="1" smtClean="0"/>
                        <a:t>PhishTank</a:t>
                      </a:r>
                      <a:endParaRPr lang="en-US" sz="1100" smtClean="0"/>
                    </a:p>
                    <a:p>
                      <a:endParaRPr lang="en-US" sz="1100" smtClean="0"/>
                    </a:p>
                    <a:p>
                      <a:r>
                        <a:rPr lang="en-US" sz="1100" smtClean="0"/>
                        <a:t>.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Accuracy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98.29%.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F1 score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98.20%.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AUC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0.98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Recall :</a:t>
                      </a:r>
                      <a:r>
                        <a:rPr lang="en-US" sz="1000" b="1" baseline="0" smtClean="0">
                          <a:latin typeface="Gill Sans MT" pitchFamily="34" charset="0"/>
                        </a:rPr>
                        <a:t>  </a:t>
                      </a:r>
                      <a:r>
                        <a:rPr lang="en-US" sz="1000" b="0" baseline="0" smtClean="0">
                          <a:latin typeface="Gill Sans MT" pitchFamily="34" charset="0"/>
                        </a:rPr>
                        <a:t>97.90%</a:t>
                      </a:r>
                    </a:p>
                    <a:p>
                      <a:endParaRPr lang="en-US" sz="1000" b="0" baseline="0" smtClean="0">
                        <a:latin typeface="Gill Sans MT" pitchFamily="34" charset="0"/>
                      </a:endParaRPr>
                    </a:p>
                    <a:p>
                      <a:r>
                        <a:rPr lang="en-US" sz="1000" smtClean="0"/>
                        <a:t>.</a:t>
                      </a:r>
                      <a:endParaRPr lang="en-US" sz="1000" b="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smtClean="0"/>
                        <a:t>The hybrid RF + LSTM model achieved 98.29% accuracy, 98.20% F1, 0.98 AUC, and 97.90% recall, delivering robust real-time phishing detection with improved interpretability</a:t>
                      </a:r>
                      <a:endParaRPr lang="en-US" sz="1000" dirty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82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smtClean="0">
                          <a:solidFill>
                            <a:schemeClr val="tx1"/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12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smtClean="0"/>
                        <a:t>Pratik Ahirwar and Prof. Anurag Shrivastava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/>
                      </a:r>
                      <a:br>
                        <a:rPr lang="en-US" sz="1000" smtClean="0">
                          <a:latin typeface="Gill Sans MT" pitchFamily="34" charset="0"/>
                        </a:rPr>
                      </a:br>
                      <a:r>
                        <a:rPr lang="en-US" sz="1000" smtClean="0">
                          <a:latin typeface="Gill Sans MT" pitchFamily="34" charset="0"/>
                        </a:rPr>
                        <a:t>(April 2026)</a:t>
                      </a:r>
                      <a:endParaRPr lang="en-US" sz="100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/>
                        <a:t>Systematic review focusing on </a:t>
                      </a:r>
                      <a:r>
                        <a:rPr lang="en-US" sz="1000" b="1" smtClean="0"/>
                        <a:t>Deep Learning architectures</a:t>
                      </a:r>
                      <a:r>
                        <a:rPr lang="en-US" sz="1000" smtClean="0"/>
                        <a:t> including Convolutional Neural Networks (</a:t>
                      </a:r>
                      <a:r>
                        <a:rPr lang="en-US" sz="1000" b="1" smtClean="0"/>
                        <a:t>CNN</a:t>
                      </a:r>
                      <a:r>
                        <a:rPr lang="en-US" sz="1000" smtClean="0"/>
                        <a:t>), Recurrent Neural Networks (</a:t>
                      </a:r>
                      <a:r>
                        <a:rPr lang="en-US" sz="1000" b="1" smtClean="0"/>
                        <a:t>RNN</a:t>
                      </a:r>
                      <a:r>
                        <a:rPr lang="en-US" sz="1000" smtClean="0"/>
                        <a:t>), </a:t>
                      </a:r>
                      <a:r>
                        <a:rPr lang="en-US" sz="1000" b="1" smtClean="0"/>
                        <a:t>LSTMs</a:t>
                      </a:r>
                      <a:r>
                        <a:rPr lang="en-US" sz="1000" smtClean="0"/>
                        <a:t>, </a:t>
                      </a:r>
                      <a:r>
                        <a:rPr lang="en-US" sz="1000" b="1" smtClean="0"/>
                        <a:t>BERT</a:t>
                      </a:r>
                      <a:r>
                        <a:rPr lang="en-US" sz="1000" smtClean="0"/>
                        <a:t>, Graph Neural Networks (</a:t>
                      </a:r>
                      <a:r>
                        <a:rPr lang="en-US" sz="1000" b="1" smtClean="0"/>
                        <a:t>GNNs</a:t>
                      </a:r>
                      <a:r>
                        <a:rPr lang="en-US" sz="1000" smtClean="0"/>
                        <a:t>).</a:t>
                      </a:r>
                      <a:endParaRPr lang="en-US" sz="1000" b="1" kern="1200" smtClean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buNone/>
                      </a:pP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000" kern="1200" smtClean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smtClean="0"/>
                        <a:t>This paper does not explicitly mention a specific dataset used, as it is a </a:t>
                      </a:r>
                      <a:r>
                        <a:rPr lang="en-US" sz="1000" b="1" smtClean="0"/>
                        <a:t>systematic review paper</a:t>
                      </a:r>
                      <a:r>
                        <a:rPr lang="en-US" sz="1000" smtClean="0"/>
                        <a:t> — it reviews and analyzes existing research rather than conducting experiments on a dataset.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mtClean="0">
                          <a:latin typeface="Gill Sans MT" pitchFamily="34" charset="0"/>
                        </a:rPr>
                        <a:t>Accuracy :</a:t>
                      </a:r>
                      <a:r>
                        <a:rPr lang="en-US" sz="1000" b="1" baseline="0" smtClean="0">
                          <a:latin typeface="Gill Sans MT" pitchFamily="34" charset="0"/>
                        </a:rPr>
                        <a:t>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Not reported</a:t>
                      </a:r>
                    </a:p>
                    <a:p>
                      <a:r>
                        <a:rPr lang="en-US" sz="1000" b="1" smtClean="0">
                          <a:latin typeface="Gill Sans MT" pitchFamily="34" charset="0"/>
                        </a:rPr>
                        <a:t>F1 score :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Not reported</a:t>
                      </a:r>
                      <a:endParaRPr lang="en-US" sz="1000" b="0" smtClean="0">
                        <a:latin typeface="Gill Sans MT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mtClean="0">
                          <a:latin typeface="Gill Sans MT" pitchFamily="34" charset="0"/>
                        </a:rPr>
                        <a:t>AUC :</a:t>
                      </a:r>
                      <a:r>
                        <a:rPr lang="en-US" sz="1000" b="1" baseline="0" smtClean="0">
                          <a:latin typeface="Gill Sans MT" pitchFamily="34" charset="0"/>
                        </a:rPr>
                        <a:t> 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Not reported</a:t>
                      </a:r>
                      <a:endParaRPr lang="en-US" sz="1000" b="0" smtClean="0">
                        <a:latin typeface="Gill Sans MT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smtClean="0">
                          <a:latin typeface="Gill Sans MT" pitchFamily="34" charset="0"/>
                        </a:rPr>
                        <a:t>Recall :</a:t>
                      </a:r>
                      <a:r>
                        <a:rPr lang="en-US" sz="1000" smtClean="0">
                          <a:latin typeface="Gill Sans MT" pitchFamily="34" charset="0"/>
                        </a:rPr>
                        <a:t>  Not reported</a:t>
                      </a:r>
                      <a:endParaRPr lang="en-US" sz="1000" b="0" smtClean="0">
                        <a:latin typeface="Gill Sans MT" pitchFamily="34" charset="0"/>
                      </a:endParaRPr>
                    </a:p>
                    <a:p>
                      <a:endParaRPr lang="en-US" sz="1000" smtClean="0">
                        <a:latin typeface="Gill Sans MT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smtClean="0"/>
                        <a:t>A. Sravanthi, A. A. Kousar, A. R. Dabole, G. J. G, and S. Elango, "Hybrid AI for phishing site detection," </a:t>
                      </a:r>
                      <a:r>
                        <a:rPr lang="en-US" sz="1000" i="1" smtClean="0"/>
                        <a:t>International Research Journal of Modernization in Engineering Technology and Science.</a:t>
                      </a:r>
                      <a:endParaRPr lang="en-US" sz="10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287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72852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r>
              <a:rPr dirty="0"/>
              <a:t/>
            </a: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460976" y="1419622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spc="-1">
                <a:solidFill>
                  <a:srgbClr val="000000"/>
                </a:solidFill>
                <a:latin typeface="Gill Sans MT"/>
              </a:rPr>
              <a:t>Difficulty in detecting zero-day and evolving phishing </a:t>
            </a: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attacks.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Heavy </a:t>
            </a:r>
            <a:r>
              <a:rPr lang="en-US" sz="2400" spc="-1">
                <a:solidFill>
                  <a:srgbClr val="000000"/>
                </a:solidFill>
                <a:latin typeface="Gill Sans MT"/>
              </a:rPr>
              <a:t>dependence on handcrafted and URL-based </a:t>
            </a: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features.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High </a:t>
            </a:r>
            <a:r>
              <a:rPr lang="en-US" sz="2400" spc="-1">
                <a:solidFill>
                  <a:srgbClr val="000000"/>
                </a:solidFill>
                <a:latin typeface="Gill Sans MT"/>
              </a:rPr>
              <a:t>computational complexity and training </a:t>
            </a: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requirements.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Limited </a:t>
            </a:r>
            <a:r>
              <a:rPr lang="en-US" sz="2400" spc="-1">
                <a:solidFill>
                  <a:srgbClr val="000000"/>
                </a:solidFill>
                <a:latin typeface="Gill Sans MT"/>
              </a:rPr>
              <a:t>real-time deployment </a:t>
            </a: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capability.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Lack </a:t>
            </a:r>
            <a:r>
              <a:rPr lang="en-US" sz="2400" spc="-1">
                <a:solidFill>
                  <a:srgbClr val="000000"/>
                </a:solidFill>
                <a:latin typeface="Gill Sans MT"/>
              </a:rPr>
              <a:t>of Explainable AI (XAI) </a:t>
            </a: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integration.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High </a:t>
            </a:r>
            <a:r>
              <a:rPr lang="en-US" sz="2400" spc="-1">
                <a:solidFill>
                  <a:srgbClr val="000000"/>
                </a:solidFill>
                <a:latin typeface="Gill Sans MT"/>
              </a:rPr>
              <a:t>false positive rates in practical </a:t>
            </a: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environments.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Poor </a:t>
            </a:r>
            <a:r>
              <a:rPr lang="en-US" sz="2400" spc="-1">
                <a:solidFill>
                  <a:srgbClr val="000000"/>
                </a:solidFill>
                <a:latin typeface="Gill Sans MT"/>
              </a:rPr>
              <a:t>scalability in large-scale phishing detection </a:t>
            </a:r>
            <a:r>
              <a:rPr lang="en-US" sz="2400" spc="-1" smtClean="0">
                <a:solidFill>
                  <a:srgbClr val="000000"/>
                </a:solidFill>
                <a:latin typeface="Gill Sans MT"/>
              </a:rPr>
              <a:t>system.</a:t>
            </a: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11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-828550" y="457783"/>
            <a:ext cx="460851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pc="-1" smtClean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Limitations</a:t>
            </a:r>
            <a:endParaRPr lang="en-US" sz="2800" b="1" spc="-1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28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725200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30002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Research Gap &amp; Improvements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28596" y="1085940"/>
            <a:ext cx="8504804" cy="4057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lvl="0" indent="-342900" algn="just">
              <a:buFont typeface="Wingdings" pitchFamily="2" charset="2"/>
              <a:buChar char="q"/>
              <a:defRPr/>
            </a:pPr>
            <a:r>
              <a:rPr lang="en-US" sz="2400" b="1" spc="-1">
                <a:solidFill>
                  <a:srgbClr val="000000"/>
                </a:solidFill>
                <a:latin typeface="Gill Sans MT"/>
              </a:rPr>
              <a:t> Research Gap:</a:t>
            </a:r>
            <a:r>
              <a:rPr lang="en-US" sz="2400" spc="-1">
                <a:solidFill>
                  <a:srgbClr val="000000"/>
                </a:solidFill>
                <a:latin typeface="Gill Sans MT"/>
              </a:rPr>
              <a:t> </a:t>
            </a:r>
          </a:p>
          <a:p>
            <a:pPr marL="914400" lvl="1" indent="-457200" algn="just">
              <a:buFont typeface="Arial" pitchFamily="34" charset="0"/>
              <a:buChar char="•"/>
              <a:defRPr/>
            </a:pPr>
            <a:r>
              <a:rPr lang="en-US" sz="2400" spc="-1">
                <a:solidFill>
                  <a:srgbClr val="000000"/>
                </a:solidFill>
                <a:latin typeface="Gill Sans MT"/>
              </a:rPr>
              <a:t>Inability to detect zero-day phishing attacks</a:t>
            </a:r>
            <a:r>
              <a:rPr lang="en-US" sz="2200" spc="-1">
                <a:solidFill>
                  <a:srgbClr val="000000"/>
                </a:solidFill>
                <a:latin typeface="Gill Sans MT"/>
              </a:rPr>
              <a:t>:</a:t>
            </a:r>
          </a:p>
          <a:p>
            <a:pPr marL="1371600" lvl="2" indent="-457200" algn="just">
              <a:buFont typeface="Wingdings" pitchFamily="2" charset="2"/>
              <a:buChar char="Ø"/>
              <a:defRPr/>
            </a:pPr>
            <a:r>
              <a:rPr lang="en-US" sz="2000" spc="-1">
                <a:solidFill>
                  <a:srgbClr val="000000"/>
                </a:solidFill>
                <a:latin typeface="Gill Sans MT"/>
              </a:rPr>
              <a:t>Existing systems fail to identify newly generated phishing URLs that are not present in blacklists or trained datasets.                 </a:t>
            </a:r>
          </a:p>
          <a:p>
            <a:pPr marL="914400" lvl="1" indent="-457200" algn="just">
              <a:buFont typeface="Arial" pitchFamily="34" charset="0"/>
              <a:buChar char="•"/>
              <a:defRPr/>
            </a:pPr>
            <a:r>
              <a:rPr lang="en-US" sz="2400" spc="-1">
                <a:solidFill>
                  <a:srgbClr val="000000"/>
                </a:solidFill>
                <a:latin typeface="Gill Sans MT"/>
              </a:rPr>
              <a:t>High dependency on manual feature engineering</a:t>
            </a:r>
            <a:r>
              <a:rPr lang="en-US" sz="2200" spc="-1">
                <a:solidFill>
                  <a:srgbClr val="000000"/>
                </a:solidFill>
                <a:latin typeface="Gill Sans MT"/>
              </a:rPr>
              <a:t>:  </a:t>
            </a:r>
          </a:p>
          <a:p>
            <a:pPr marL="1257300" lvl="2" indent="-342900" algn="just">
              <a:buFont typeface="Wingdings" pitchFamily="2" charset="2"/>
              <a:buChar char="Ø"/>
              <a:defRPr/>
            </a:pPr>
            <a:r>
              <a:rPr lang="en-US" sz="2200" spc="-1">
                <a:solidFill>
                  <a:srgbClr val="000000"/>
                </a:solidFill>
                <a:latin typeface="Gill Sans MT"/>
              </a:rPr>
              <a:t> Traditional machine learning models rely heavily on handcrafted URL features, reducing adaptability and </a:t>
            </a:r>
            <a:r>
              <a:rPr lang="en-US" sz="2200" spc="-1" smtClean="0">
                <a:solidFill>
                  <a:srgbClr val="000000"/>
                </a:solidFill>
                <a:latin typeface="Gill Sans MT"/>
              </a:rPr>
              <a:t>automation.</a:t>
            </a: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400" spc="-1">
                <a:solidFill>
                  <a:srgbClr val="000000"/>
                </a:solidFill>
                <a:latin typeface="Gill Sans MT"/>
              </a:rPr>
              <a:t>Limited real-time performance and scalability</a:t>
            </a:r>
            <a:r>
              <a:rPr lang="en-US" sz="2200" spc="-1">
                <a:solidFill>
                  <a:srgbClr val="000000"/>
                </a:solidFill>
                <a:latin typeface="Gill Sans MT"/>
              </a:rPr>
              <a:t>:</a:t>
            </a:r>
          </a:p>
          <a:p>
            <a:pPr marL="1257300" lvl="2" indent="-342900" algn="just">
              <a:buFont typeface="Wingdings" pitchFamily="2" charset="2"/>
              <a:buChar char="Ø"/>
              <a:defRPr/>
            </a:pPr>
            <a:r>
              <a:rPr lang="en-US" sz="2200" spc="-1">
                <a:solidFill>
                  <a:srgbClr val="000000"/>
                </a:solidFill>
                <a:latin typeface="Gill Sans MT"/>
              </a:rPr>
              <a:t> Many phishing detection models are computationally expensive and unsuitable for large-scale real-time deployment.  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346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Research Gap &amp; Improvements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28596" y="1085940"/>
            <a:ext cx="8504804" cy="4057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lvl="0" indent="-342900" algn="just">
              <a:buFont typeface="Wingdings" pitchFamily="2" charset="2"/>
              <a:buChar char="q"/>
              <a:defRPr/>
            </a:pPr>
            <a:r>
              <a:rPr lang="en-US" sz="2400" b="1" spc="-1">
                <a:solidFill>
                  <a:srgbClr val="000000"/>
                </a:solidFill>
                <a:latin typeface="Gill Sans MT"/>
              </a:rPr>
              <a:t> Research Gap:</a:t>
            </a:r>
            <a:r>
              <a:rPr lang="en-US" sz="2400" spc="-1">
                <a:solidFill>
                  <a:srgbClr val="000000"/>
                </a:solidFill>
                <a:latin typeface="Gill Sans MT"/>
              </a:rPr>
              <a:t> </a:t>
            </a:r>
          </a:p>
          <a:p>
            <a:pPr marL="914400" lvl="1" indent="-457200" algn="just">
              <a:buFont typeface="Arial" pitchFamily="34" charset="0"/>
              <a:buChar char="•"/>
              <a:defRPr/>
            </a:pPr>
            <a:r>
              <a:rPr lang="en-US" sz="2400" spc="-1">
                <a:solidFill>
                  <a:srgbClr val="000000"/>
                </a:solidFill>
                <a:latin typeface="Gill Sans MT"/>
              </a:rPr>
              <a:t>Explainable AI (XAI) rarely integrated</a:t>
            </a:r>
            <a:r>
              <a:rPr lang="en-US" sz="2200" spc="-1">
                <a:solidFill>
                  <a:srgbClr val="000000"/>
                </a:solidFill>
                <a:latin typeface="Gill Sans MT"/>
              </a:rPr>
              <a:t>:</a:t>
            </a:r>
          </a:p>
          <a:p>
            <a:pPr marL="1371600" lvl="2" indent="-457200" algn="just">
              <a:buFont typeface="Wingdings" pitchFamily="2" charset="2"/>
              <a:buChar char="Ø"/>
              <a:defRPr/>
            </a:pPr>
            <a:r>
              <a:rPr lang="en-US" sz="2000" spc="-1">
                <a:solidFill>
                  <a:srgbClr val="000000"/>
                </a:solidFill>
                <a:latin typeface="Gill Sans MT"/>
              </a:rPr>
              <a:t>Most existing approaches lack transparency, making it difficult to understand how predictions are generated.                 </a:t>
            </a:r>
          </a:p>
          <a:p>
            <a:pPr marL="914400" lvl="1" indent="-457200" algn="just">
              <a:buFont typeface="Arial" pitchFamily="34" charset="0"/>
              <a:buChar char="•"/>
              <a:defRPr/>
            </a:pPr>
            <a:r>
              <a:rPr lang="en-US" sz="2400" spc="-1">
                <a:solidFill>
                  <a:srgbClr val="000000"/>
                </a:solidFill>
                <a:latin typeface="Gill Sans MT"/>
              </a:rPr>
              <a:t>Ensemble learning underutilized </a:t>
            </a:r>
            <a:r>
              <a:rPr lang="en-US" sz="2200" spc="-1">
                <a:solidFill>
                  <a:srgbClr val="000000"/>
                </a:solidFill>
                <a:latin typeface="Gill Sans MT"/>
              </a:rPr>
              <a:t>:  </a:t>
            </a:r>
          </a:p>
          <a:p>
            <a:pPr marL="1257300" lvl="2" indent="-342900" algn="just">
              <a:buFont typeface="Wingdings" pitchFamily="2" charset="2"/>
              <a:buChar char="Ø"/>
              <a:defRPr/>
            </a:pPr>
            <a:r>
              <a:rPr lang="en-US" sz="2200" spc="-1">
                <a:solidFill>
                  <a:srgbClr val="000000"/>
                </a:solidFill>
                <a:latin typeface="Gill Sans MT"/>
              </a:rPr>
              <a:t> Several studies focus only on single models instead of leveraging ensemble techniques for improved detection accuracy and </a:t>
            </a:r>
            <a:r>
              <a:rPr lang="en-US" sz="2200" spc="-1" smtClean="0">
                <a:solidFill>
                  <a:srgbClr val="000000"/>
                </a:solidFill>
                <a:latin typeface="Gill Sans MT"/>
              </a:rPr>
              <a:t>robustness.</a:t>
            </a:r>
            <a:endParaRPr lang="en-US" sz="2200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5680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Research Gap &amp; Improvements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33408" y="1028430"/>
            <a:ext cx="8504804" cy="4057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lvl="0" indent="-342900">
              <a:buFont typeface="Wingdings" pitchFamily="2" charset="2"/>
              <a:buChar char="q"/>
              <a:defRPr/>
            </a:pPr>
            <a:r>
              <a:rPr lang="en-US" sz="2400" spc="-1" smtClean="0">
                <a:solidFill>
                  <a:srgbClr val="000000"/>
                </a:solidFill>
                <a:latin typeface="Gill Sans MT" pitchFamily="34" charset="0"/>
              </a:rPr>
              <a:t> </a:t>
            </a:r>
            <a:r>
              <a:rPr lang="en-US" sz="2400" b="1" spc="-1" smtClean="0">
                <a:solidFill>
                  <a:srgbClr val="000000"/>
                </a:solidFill>
                <a:latin typeface="Gill Sans MT" pitchFamily="34" charset="0"/>
              </a:rPr>
              <a:t>Improvements: </a:t>
            </a: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400" spc="-1">
                <a:solidFill>
                  <a:srgbClr val="000000"/>
                </a:solidFill>
                <a:latin typeface="Gill Sans MT" pitchFamily="34" charset="0"/>
              </a:rPr>
              <a:t>Improved zero-day phishing attack detection using Ensemble Learning</a:t>
            </a:r>
            <a:r>
              <a:rPr lang="en-US" sz="2200" spc="-1">
                <a:solidFill>
                  <a:srgbClr val="000000"/>
                </a:solidFill>
                <a:latin typeface="Gill Sans MT" pitchFamily="34" charset="0"/>
              </a:rPr>
              <a:t>:</a:t>
            </a:r>
          </a:p>
          <a:p>
            <a:pPr marL="1371600" lvl="2" indent="-457200" algn="just">
              <a:buFont typeface="Wingdings" pitchFamily="2" charset="2"/>
              <a:buChar char="Ø"/>
              <a:defRPr/>
            </a:pPr>
            <a:r>
              <a:rPr lang="en-US" sz="2000" spc="-1">
                <a:solidFill>
                  <a:srgbClr val="000000"/>
                </a:solidFill>
                <a:latin typeface="Gill Sans MT" pitchFamily="34" charset="0"/>
              </a:rPr>
              <a:t>Combines multiple models to identify previously unseen phishing URLs more effectively.</a:t>
            </a: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400" spc="-1">
                <a:solidFill>
                  <a:srgbClr val="000000"/>
                </a:solidFill>
                <a:latin typeface="Gill Sans MT" pitchFamily="34" charset="0"/>
              </a:rPr>
              <a:t>Automated feature selection using Recursive Feature Elimination (RFE) :</a:t>
            </a:r>
          </a:p>
          <a:p>
            <a:pPr marL="1371600" lvl="2" indent="-457200" algn="just">
              <a:buFont typeface="Wingdings" pitchFamily="2" charset="2"/>
              <a:buChar char="Ø"/>
              <a:defRPr/>
            </a:pPr>
            <a:r>
              <a:rPr lang="en-US" sz="2000" spc="-1">
                <a:solidFill>
                  <a:srgbClr val="000000"/>
                </a:solidFill>
                <a:latin typeface="Gill Sans MT" pitchFamily="34" charset="0"/>
              </a:rPr>
              <a:t> Selects the most important features automatically to improve model </a:t>
            </a:r>
            <a:r>
              <a:rPr lang="en-US" sz="2000" spc="-1" smtClean="0">
                <a:solidFill>
                  <a:srgbClr val="000000"/>
                </a:solidFill>
                <a:latin typeface="Gill Sans MT" pitchFamily="34" charset="0"/>
              </a:rPr>
              <a:t>performance.</a:t>
            </a:r>
            <a:endParaRPr lang="en-US" sz="2000" spc="-1">
              <a:solidFill>
                <a:srgbClr val="000000"/>
              </a:solidFill>
              <a:latin typeface="Gill Sans MT" pitchFamily="34" charset="0"/>
            </a:endParaRP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400" spc="-1">
                <a:solidFill>
                  <a:srgbClr val="000000"/>
                </a:solidFill>
                <a:latin typeface="Gill Sans MT" pitchFamily="34" charset="0"/>
              </a:rPr>
              <a:t>Fast and scalable real-time phishing URL detection pipeline</a:t>
            </a:r>
            <a:r>
              <a:rPr lang="en-US" sz="2200" spc="-1">
                <a:solidFill>
                  <a:srgbClr val="000000"/>
                </a:solidFill>
                <a:latin typeface="Gill Sans MT" pitchFamily="34" charset="0"/>
              </a:rPr>
              <a:t>:</a:t>
            </a:r>
          </a:p>
          <a:p>
            <a:pPr marL="1257300" lvl="2" indent="-342900" algn="just">
              <a:buFont typeface="Wingdings" pitchFamily="2" charset="2"/>
              <a:buChar char="Ø"/>
              <a:defRPr/>
            </a:pPr>
            <a:r>
              <a:rPr lang="en-US" sz="2000" spc="-1">
                <a:solidFill>
                  <a:srgbClr val="000000"/>
                </a:solidFill>
                <a:latin typeface="Gill Sans MT" pitchFamily="34" charset="0"/>
              </a:rPr>
              <a:t> Designed an optimized system capable of handling real-time phishing detection efficiently.</a:t>
            </a:r>
            <a:endParaRPr lang="en-US" sz="2800" b="1" spc="-1" smtClean="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8697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Research Gap &amp; Improvements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33408" y="1085940"/>
            <a:ext cx="8504804" cy="4057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lvl="0" indent="-342900">
              <a:buFont typeface="Wingdings" pitchFamily="2" charset="2"/>
              <a:buChar char="q"/>
              <a:defRPr/>
            </a:pPr>
            <a:r>
              <a:rPr lang="en-US" sz="2400" spc="-1" smtClean="0">
                <a:solidFill>
                  <a:srgbClr val="000000"/>
                </a:solidFill>
                <a:latin typeface="Gill Sans MT" pitchFamily="34" charset="0"/>
              </a:rPr>
              <a:t> </a:t>
            </a:r>
            <a:r>
              <a:rPr lang="en-US" sz="2400" b="1" spc="-1" smtClean="0">
                <a:solidFill>
                  <a:srgbClr val="000000"/>
                </a:solidFill>
                <a:latin typeface="Gill Sans MT" pitchFamily="34" charset="0"/>
              </a:rPr>
              <a:t>Improvements: </a:t>
            </a: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400" spc="-1">
                <a:solidFill>
                  <a:srgbClr val="000000"/>
                </a:solidFill>
                <a:latin typeface="Gill Sans MT" pitchFamily="34" charset="0"/>
              </a:rPr>
              <a:t>Integrated Explainable AI (SHAP) for transparent predictions</a:t>
            </a:r>
            <a:r>
              <a:rPr lang="en-US" sz="2200" spc="-1">
                <a:solidFill>
                  <a:srgbClr val="000000"/>
                </a:solidFill>
                <a:latin typeface="Gill Sans MT" pitchFamily="34" charset="0"/>
              </a:rPr>
              <a:t>:</a:t>
            </a:r>
          </a:p>
          <a:p>
            <a:pPr marL="1371600" lvl="2" indent="-457200" algn="just">
              <a:buFont typeface="Wingdings" pitchFamily="2" charset="2"/>
              <a:buChar char="Ø"/>
              <a:defRPr/>
            </a:pPr>
            <a:r>
              <a:rPr lang="en-US" sz="2000" spc="-1">
                <a:solidFill>
                  <a:srgbClr val="000000"/>
                </a:solidFill>
                <a:latin typeface="Gill Sans MT" pitchFamily="34" charset="0"/>
              </a:rPr>
              <a:t>Provides visual explanations to understand how the model makes </a:t>
            </a:r>
            <a:r>
              <a:rPr lang="en-US" sz="2000" spc="-1" smtClean="0">
                <a:solidFill>
                  <a:srgbClr val="000000"/>
                </a:solidFill>
                <a:latin typeface="Gill Sans MT" pitchFamily="34" charset="0"/>
              </a:rPr>
              <a:t>predictions.</a:t>
            </a:r>
            <a:endParaRPr lang="en-US" sz="2000" spc="-1">
              <a:solidFill>
                <a:srgbClr val="000000"/>
              </a:solidFill>
              <a:latin typeface="Gill Sans MT" pitchFamily="34" charset="0"/>
            </a:endParaRP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400" spc="-1">
                <a:solidFill>
                  <a:srgbClr val="000000"/>
                </a:solidFill>
                <a:latin typeface="Gill Sans MT" pitchFamily="34" charset="0"/>
              </a:rPr>
              <a:t>Enhanced accuracy and robustness using Stacking and Voting Ensembles </a:t>
            </a:r>
            <a:r>
              <a:rPr lang="en-US" sz="2200" spc="-1">
                <a:solidFill>
                  <a:srgbClr val="000000"/>
                </a:solidFill>
                <a:latin typeface="Gill Sans MT" pitchFamily="34" charset="0"/>
              </a:rPr>
              <a:t>:</a:t>
            </a:r>
          </a:p>
          <a:p>
            <a:pPr marL="1371600" lvl="2" indent="-457200" algn="just">
              <a:buFont typeface="Wingdings" pitchFamily="2" charset="2"/>
              <a:buChar char="Ø"/>
              <a:defRPr/>
            </a:pPr>
            <a:r>
              <a:rPr lang="en-US" sz="2000" spc="-1">
                <a:solidFill>
                  <a:srgbClr val="000000"/>
                </a:solidFill>
                <a:latin typeface="Gill Sans MT" pitchFamily="34" charset="0"/>
              </a:rPr>
              <a:t> </a:t>
            </a:r>
            <a:r>
              <a:rPr lang="en-US" sz="2200" spc="-1">
                <a:solidFill>
                  <a:srgbClr val="000000"/>
                </a:solidFill>
                <a:latin typeface="Gill Sans MT" pitchFamily="34" charset="0"/>
              </a:rPr>
              <a:t>Uses ensemble techniques to achieve higher prediction accuracy and </a:t>
            </a:r>
            <a:r>
              <a:rPr lang="en-US" sz="2200" spc="-1" smtClean="0">
                <a:solidFill>
                  <a:srgbClr val="000000"/>
                </a:solidFill>
                <a:latin typeface="Gill Sans MT" pitchFamily="34" charset="0"/>
              </a:rPr>
              <a:t>reliability.</a:t>
            </a:r>
            <a:endParaRPr lang="en-US" sz="2200" b="1" spc="-1" smtClean="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33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spc="-1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kumimoji="0" lang="en-US" sz="2800" b="1" i="0" u="none" strike="noStrike" kern="1200" cap="none" spc="-1" normalizeH="0" baseline="0" noProof="0" smtClean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roposed</a:t>
            </a:r>
            <a:r>
              <a:rPr kumimoji="0" lang="en-US" sz="2800" b="1" i="0" u="none" strike="noStrike" kern="1200" cap="none" spc="-1" normalizeH="0" noProof="0" smtClean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Methodology &amp; Approach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33408" y="1085940"/>
            <a:ext cx="8504804" cy="4057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>
                <a:latin typeface="Gill Sans MT" pitchFamily="34" charset="0"/>
              </a:rPr>
              <a:t>Data </a:t>
            </a:r>
            <a:r>
              <a:rPr lang="en-US" sz="2400" b="1" smtClean="0">
                <a:latin typeface="Gill Sans MT" pitchFamily="34" charset="0"/>
              </a:rPr>
              <a:t>Collection</a:t>
            </a:r>
            <a:r>
              <a:rPr lang="en-US" sz="2400" smtClean="0">
                <a:latin typeface="Gill Sans MT" pitchFamily="34" charset="0"/>
              </a:rPr>
              <a:t>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smtClean="0">
                <a:latin typeface="Gill Sans MT" pitchFamily="34" charset="0"/>
              </a:rPr>
              <a:t>Multi-dataset </a:t>
            </a:r>
            <a:r>
              <a:rPr lang="en-US" sz="2400">
                <a:latin typeface="Gill Sans MT" pitchFamily="34" charset="0"/>
              </a:rPr>
              <a:t>phishing dataset collected from Kaggle.</a:t>
            </a:r>
            <a:r>
              <a:rPr lang="en-US" sz="2000">
                <a:latin typeface="Gill Sans MT" pitchFamily="34" charset="0"/>
              </a:rPr>
              <a:t>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>
                <a:latin typeface="Gill Sans MT" pitchFamily="34" charset="0"/>
              </a:rPr>
              <a:t>Data Preprocessing</a:t>
            </a:r>
            <a:r>
              <a:rPr lang="en-US" sz="2400">
                <a:latin typeface="Gill Sans MT" pitchFamily="34" charset="0"/>
              </a:rPr>
              <a:t> </a:t>
            </a:r>
            <a:endParaRPr lang="en-US" sz="2400" smtClean="0">
              <a:latin typeface="Gill Sans MT" pitchFamily="34" charset="0"/>
            </a:endParaRP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smtClean="0">
                <a:latin typeface="Gill Sans MT" pitchFamily="34" charset="0"/>
              </a:rPr>
              <a:t>Missing </a:t>
            </a:r>
            <a:r>
              <a:rPr lang="en-US" sz="2400">
                <a:latin typeface="Gill Sans MT" pitchFamily="34" charset="0"/>
              </a:rPr>
              <a:t>value handling using median imputation. 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>
                <a:latin typeface="Gill Sans MT" pitchFamily="34" charset="0"/>
              </a:rPr>
              <a:t>Non-numeric columns removed. 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>
                <a:latin typeface="Gill Sans MT" pitchFamily="34" charset="0"/>
              </a:rPr>
              <a:t>Labels encoded: </a:t>
            </a:r>
          </a:p>
          <a:p>
            <a:pPr marL="1257300" lvl="2" indent="-342900">
              <a:buFont typeface="Courier New" pitchFamily="49" charset="0"/>
              <a:buChar char="o"/>
            </a:pPr>
            <a:r>
              <a:rPr lang="en-US" sz="2400">
                <a:latin typeface="Gill Sans MT" pitchFamily="34" charset="0"/>
              </a:rPr>
              <a:t>Phishing → 1 </a:t>
            </a:r>
          </a:p>
          <a:p>
            <a:pPr marL="1257300" lvl="2" indent="-342900">
              <a:buFont typeface="Courier New" pitchFamily="49" charset="0"/>
              <a:buChar char="o"/>
            </a:pPr>
            <a:r>
              <a:rPr lang="en-US" sz="2400">
                <a:latin typeface="Gill Sans MT" pitchFamily="34" charset="0"/>
              </a:rPr>
              <a:t>Legitimate → 0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>
                <a:latin typeface="Gill Sans MT" pitchFamily="34" charset="0"/>
              </a:rPr>
              <a:t>Exploratory Data Analysis (EDA)</a:t>
            </a:r>
            <a:r>
              <a:rPr lang="en-US" sz="2400">
                <a:latin typeface="Gill Sans MT" pitchFamily="34" charset="0"/>
              </a:rPr>
              <a:t> </a:t>
            </a:r>
            <a:endParaRPr lang="en-US" sz="2400" smtClean="0">
              <a:latin typeface="Gill Sans MT" pitchFamily="34" charset="0"/>
            </a:endParaRP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smtClean="0">
                <a:latin typeface="Gill Sans MT" pitchFamily="34" charset="0"/>
              </a:rPr>
              <a:t>Class </a:t>
            </a:r>
            <a:r>
              <a:rPr lang="en-US" sz="2400">
                <a:latin typeface="Gill Sans MT" pitchFamily="34" charset="0"/>
              </a:rPr>
              <a:t>distribution analysis </a:t>
            </a:r>
            <a:r>
              <a:rPr lang="en-US" sz="2400" smtClean="0">
                <a:latin typeface="Gill Sans MT" pitchFamily="34" charset="0"/>
              </a:rPr>
              <a:t>&amp; </a:t>
            </a:r>
            <a:r>
              <a:rPr lang="en-US" sz="2400">
                <a:latin typeface="Gill Sans MT" pitchFamily="34" charset="0"/>
              </a:rPr>
              <a:t>Correlation </a:t>
            </a:r>
            <a:r>
              <a:rPr lang="en-US" sz="2400" smtClean="0">
                <a:latin typeface="Gill Sans MT" pitchFamily="34" charset="0"/>
              </a:rPr>
              <a:t>heatmaps. </a:t>
            </a:r>
            <a:endParaRPr lang="en-US" sz="2400">
              <a:latin typeface="Gill Sans MT" pitchFamily="34" charset="0"/>
            </a:endParaRP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smtClean="0">
                <a:latin typeface="Gill Sans MT" pitchFamily="34" charset="0"/>
              </a:rPr>
              <a:t>Feature </a:t>
            </a:r>
            <a:r>
              <a:rPr lang="en-US" sz="2400">
                <a:latin typeface="Gill Sans MT" pitchFamily="34" charset="0"/>
              </a:rPr>
              <a:t>distribution </a:t>
            </a:r>
            <a:r>
              <a:rPr lang="en-US" sz="2400" smtClean="0">
                <a:latin typeface="Gill Sans MT" pitchFamily="34" charset="0"/>
              </a:rPr>
              <a:t>visualization. </a:t>
            </a:r>
            <a:endParaRPr lang="en-US" sz="2400">
              <a:latin typeface="Gill Sans MT" pitchFamily="34" charset="0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326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spc="-1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kumimoji="0" lang="en-US" sz="2800" b="1" i="0" u="none" strike="noStrike" kern="1200" cap="none" spc="-1" normalizeH="0" baseline="0" noProof="0" smtClean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roposed</a:t>
            </a:r>
            <a:r>
              <a:rPr kumimoji="0" lang="en-US" sz="2800" b="1" i="0" u="none" strike="noStrike" kern="1200" cap="none" spc="-1" normalizeH="0" noProof="0" smtClean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Methodology &amp; Approach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80212" y="915566"/>
            <a:ext cx="8504804" cy="4057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>
                <a:latin typeface="Gill Sans MT" pitchFamily="34" charset="0"/>
              </a:rPr>
              <a:t>Train-Test </a:t>
            </a:r>
            <a:r>
              <a:rPr lang="en-US" sz="2400" b="1" smtClean="0">
                <a:latin typeface="Gill Sans MT" pitchFamily="34" charset="0"/>
              </a:rPr>
              <a:t>Split :</a:t>
            </a:r>
            <a:r>
              <a:rPr lang="en-US" smtClean="0">
                <a:latin typeface="Gill Sans MT" pitchFamily="34" charset="0"/>
              </a:rPr>
              <a:t>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200" smtClean="0">
                <a:latin typeface="Gill Sans MT" pitchFamily="34" charset="0"/>
              </a:rPr>
              <a:t>80</a:t>
            </a:r>
            <a:r>
              <a:rPr lang="en-US" sz="2200">
                <a:latin typeface="Gill Sans MT" pitchFamily="34" charset="0"/>
              </a:rPr>
              <a:t>% </a:t>
            </a:r>
            <a:r>
              <a:rPr lang="en-US" sz="2200" smtClean="0">
                <a:latin typeface="Gill Sans MT" pitchFamily="34" charset="0"/>
              </a:rPr>
              <a:t>training </a:t>
            </a:r>
            <a:r>
              <a:rPr lang="en-US" sz="2200">
                <a:latin typeface="Gill Sans MT" pitchFamily="34" charset="0"/>
              </a:rPr>
              <a:t>/ 20% </a:t>
            </a:r>
            <a:r>
              <a:rPr lang="en-US" sz="2200" smtClean="0">
                <a:latin typeface="Gill Sans MT" pitchFamily="34" charset="0"/>
              </a:rPr>
              <a:t>testing &amp; stratified </a:t>
            </a:r>
            <a:r>
              <a:rPr lang="en-US" sz="2200">
                <a:latin typeface="Gill Sans MT" pitchFamily="34" charset="0"/>
              </a:rPr>
              <a:t>split to maintain class </a:t>
            </a:r>
            <a:r>
              <a:rPr lang="en-US" sz="2200" smtClean="0">
                <a:latin typeface="Gill Sans MT" pitchFamily="34" charset="0"/>
              </a:rPr>
              <a:t>balance. </a:t>
            </a:r>
            <a:endParaRPr lang="en-US" sz="2200">
              <a:latin typeface="Gill Sans MT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smtClean="0">
                <a:latin typeface="Gill Sans MT" pitchFamily="34" charset="0"/>
              </a:rPr>
              <a:t>Class Balancing: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200" smtClean="0">
                <a:latin typeface="Gill Sans MT" pitchFamily="34" charset="0"/>
              </a:rPr>
              <a:t>SMOTE </a:t>
            </a:r>
            <a:r>
              <a:rPr lang="en-US" sz="2200">
                <a:latin typeface="Gill Sans MT" pitchFamily="34" charset="0"/>
              </a:rPr>
              <a:t>applied for imbalance </a:t>
            </a:r>
            <a:r>
              <a:rPr lang="en-US" sz="2200" smtClean="0">
                <a:latin typeface="Gill Sans MT" pitchFamily="34" charset="0"/>
              </a:rPr>
              <a:t>handling.</a:t>
            </a:r>
            <a:endParaRPr lang="en-US" sz="2200">
              <a:latin typeface="Gill Sans MT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>
                <a:latin typeface="Gill Sans MT" pitchFamily="34" charset="0"/>
              </a:rPr>
              <a:t>Feature </a:t>
            </a:r>
            <a:r>
              <a:rPr lang="en-US" sz="2400" b="1" smtClean="0">
                <a:latin typeface="Gill Sans MT" pitchFamily="34" charset="0"/>
              </a:rPr>
              <a:t>Engineering:</a:t>
            </a:r>
            <a:r>
              <a:rPr lang="en-US" sz="2400" smtClean="0">
                <a:latin typeface="Gill Sans MT" pitchFamily="34" charset="0"/>
              </a:rPr>
              <a:t>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200" smtClean="0">
                <a:latin typeface="Gill Sans MT" pitchFamily="34" charset="0"/>
              </a:rPr>
              <a:t>StandardScaler </a:t>
            </a:r>
            <a:r>
              <a:rPr lang="en-US" sz="2200">
                <a:latin typeface="Gill Sans MT" pitchFamily="34" charset="0"/>
              </a:rPr>
              <a:t>for </a:t>
            </a:r>
            <a:r>
              <a:rPr lang="en-US" sz="2200" smtClean="0">
                <a:latin typeface="Gill Sans MT" pitchFamily="34" charset="0"/>
              </a:rPr>
              <a:t>normalization.</a:t>
            </a:r>
            <a:endParaRPr lang="en-US" sz="2200">
              <a:latin typeface="Gill Sans MT" pitchFamily="34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200">
                <a:latin typeface="Gill Sans MT" pitchFamily="34" charset="0"/>
              </a:rPr>
              <a:t>RFE used to select top 30 important </a:t>
            </a:r>
            <a:r>
              <a:rPr lang="en-US" sz="2200" smtClean="0">
                <a:latin typeface="Gill Sans MT" pitchFamily="34" charset="0"/>
              </a:rPr>
              <a:t>features.</a:t>
            </a:r>
            <a:endParaRPr lang="en-US" sz="2200">
              <a:latin typeface="Gill Sans MT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>
                <a:latin typeface="Gill Sans MT" pitchFamily="34" charset="0"/>
              </a:rPr>
              <a:t>Model </a:t>
            </a:r>
            <a:r>
              <a:rPr lang="en-US" sz="2400" b="1" smtClean="0">
                <a:latin typeface="Gill Sans MT" pitchFamily="34" charset="0"/>
              </a:rPr>
              <a:t>Training: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200" smtClean="0">
                <a:latin typeface="Gill Sans MT" pitchFamily="34" charset="0"/>
              </a:rPr>
              <a:t>Multiple </a:t>
            </a:r>
            <a:r>
              <a:rPr lang="en-US" sz="2200">
                <a:latin typeface="Gill Sans MT" pitchFamily="34" charset="0"/>
              </a:rPr>
              <a:t>ML and Deep Learning models </a:t>
            </a:r>
            <a:r>
              <a:rPr lang="en-US" sz="2200" smtClean="0">
                <a:latin typeface="Gill Sans MT" pitchFamily="34" charset="0"/>
              </a:rPr>
              <a:t>trained.</a:t>
            </a:r>
            <a:endParaRPr lang="en-US" sz="2200">
              <a:latin typeface="Gill Sans MT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>
                <a:latin typeface="Gill Sans MT" pitchFamily="34" charset="0"/>
              </a:rPr>
              <a:t>Prediction &amp; </a:t>
            </a:r>
            <a:r>
              <a:rPr lang="en-US" sz="2400" b="1" smtClean="0">
                <a:latin typeface="Gill Sans MT" pitchFamily="34" charset="0"/>
              </a:rPr>
              <a:t>Explainability:</a:t>
            </a:r>
            <a:r>
              <a:rPr lang="en-US" sz="2400" smtClean="0">
                <a:latin typeface="Gill Sans MT" pitchFamily="34" charset="0"/>
              </a:rPr>
              <a:t> 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200" smtClean="0">
                <a:latin typeface="Gill Sans MT" pitchFamily="34" charset="0"/>
              </a:rPr>
              <a:t>SHAP </a:t>
            </a:r>
            <a:r>
              <a:rPr lang="en-US" sz="2200">
                <a:latin typeface="Gill Sans MT" pitchFamily="34" charset="0"/>
              </a:rPr>
              <a:t>used for model </a:t>
            </a:r>
            <a:r>
              <a:rPr lang="en-US" sz="2200" smtClean="0">
                <a:latin typeface="Gill Sans MT" pitchFamily="34" charset="0"/>
              </a:rPr>
              <a:t>interpretation.</a:t>
            </a:r>
            <a:endParaRPr lang="en-US" sz="2200">
              <a:latin typeface="Gill Sans MT" pitchFamily="34" charset="0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149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A7A59BD-49C5-EEF4-69EB-420E3CAA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7D4CD70E-5418-1FC5-1EDB-192C2A5FA04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FBA454CB-B805-4DE9-8F6E-EEE582D197EF}"/>
              </a:ext>
            </a:extLst>
          </p:cNvPr>
          <p:cNvSpPr txBox="1"/>
          <p:nvPr/>
        </p:nvSpPr>
        <p:spPr>
          <a:xfrm>
            <a:off x="408774" y="1275675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C56AA8D6-1D20-8753-1AD2-B484C9B1149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DB44850F-263A-20A8-CC64-6043759B95A1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029F60B-728B-DD7D-BD8D-2910CE6EA277}"/>
              </a:ext>
            </a:extLst>
          </p:cNvPr>
          <p:cNvSpPr txBox="1"/>
          <p:nvPr/>
        </p:nvSpPr>
        <p:spPr>
          <a:xfrm>
            <a:off x="1059973" y="3570465"/>
            <a:ext cx="6408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600" dirty="0"/>
              <a:t>Fig. 1: Workflow of the </a:t>
            </a:r>
            <a:r>
              <a:rPr lang="en-US" sz="1600"/>
              <a:t>Proposed </a:t>
            </a:r>
            <a:r>
              <a:rPr lang="en-US" sz="1600" smtClean="0"/>
              <a:t>Model</a:t>
            </a:r>
            <a:endParaRPr lang="en-IN" sz="1200" dirty="0"/>
          </a:p>
          <a:p>
            <a:pPr algn="ctr"/>
            <a:endParaRPr lang="en-IN" sz="1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756B9CB9-2511-C3FB-11AE-0FFB9CDC8FA8}"/>
              </a:ext>
            </a:extLst>
          </p:cNvPr>
          <p:cNvGrpSpPr/>
          <p:nvPr/>
        </p:nvGrpSpPr>
        <p:grpSpPr>
          <a:xfrm>
            <a:off x="2195736" y="915566"/>
            <a:ext cx="4320482" cy="3347397"/>
            <a:chOff x="0" y="0"/>
            <a:chExt cx="2514601" cy="445942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xmlns="" id="{2F7272CB-7476-5B14-854B-1D7608D1CDC0}"/>
                </a:ext>
              </a:extLst>
            </p:cNvPr>
            <p:cNvCxnSpPr/>
            <p:nvPr/>
          </p:nvCxnSpPr>
          <p:spPr>
            <a:xfrm>
              <a:off x="1177290" y="510540"/>
              <a:ext cx="10264" cy="205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8D772D20-DB9D-E69B-493A-A8266514884D}"/>
                </a:ext>
              </a:extLst>
            </p:cNvPr>
            <p:cNvSpPr/>
            <p:nvPr/>
          </p:nvSpPr>
          <p:spPr>
            <a:xfrm>
              <a:off x="228910" y="731519"/>
              <a:ext cx="2205912" cy="43433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000" kern="100" smtClean="0">
                  <a:latin typeface="Gill Sans MT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Exploratory Data Analysis(EDA)</a:t>
              </a:r>
              <a:r>
                <a:rPr lang="en-US" sz="2000" kern="100" smtClean="0">
                  <a:effectLst/>
                  <a:latin typeface="Gill Sans MT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  <a:endParaRPr lang="en-IN" sz="2000" kern="100">
                <a:effectLst/>
                <a:latin typeface="Gill Sans MT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xmlns="" id="{1D7C50C1-D952-CD5D-0680-765D9C47E40E}"/>
                </a:ext>
              </a:extLst>
            </p:cNvPr>
            <p:cNvCxnSpPr/>
            <p:nvPr/>
          </p:nvCxnSpPr>
          <p:spPr>
            <a:xfrm>
              <a:off x="1203960" y="1165860"/>
              <a:ext cx="10264" cy="1752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780E9CDF-2D7C-1B2C-A0A7-6279B9DBB75D}"/>
                </a:ext>
              </a:extLst>
            </p:cNvPr>
            <p:cNvSpPr/>
            <p:nvPr/>
          </p:nvSpPr>
          <p:spPr>
            <a:xfrm>
              <a:off x="22860" y="1363980"/>
              <a:ext cx="2411963" cy="5562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kern="100" smtClean="0">
                  <a:latin typeface="Gill Sans MT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Data Splitting, Scaling &amp; Balancing</a:t>
              </a:r>
              <a:endParaRPr lang="en-IN" sz="2000" kern="100" dirty="0">
                <a:effectLst/>
                <a:latin typeface="Gill Sans MT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xmlns="" id="{086D5F61-7309-BF8B-56A9-7E2826C7DD9D}"/>
                </a:ext>
              </a:extLst>
            </p:cNvPr>
            <p:cNvCxnSpPr/>
            <p:nvPr/>
          </p:nvCxnSpPr>
          <p:spPr>
            <a:xfrm>
              <a:off x="1219200" y="193548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2CC9B21D-983A-8BE7-5B2C-8585A04E80BD}"/>
                </a:ext>
              </a:extLst>
            </p:cNvPr>
            <p:cNvSpPr/>
            <p:nvPr/>
          </p:nvSpPr>
          <p:spPr>
            <a:xfrm>
              <a:off x="114299" y="2164079"/>
              <a:ext cx="2320523" cy="3352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kern="100" smtClean="0">
                  <a:latin typeface="Gill Sans MT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Feature Selection (RFE)</a:t>
              </a:r>
              <a:endParaRPr lang="en-IN" sz="2000" kern="100">
                <a:effectLst/>
                <a:latin typeface="Gill Sans MT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xmlns="" id="{38E1E82C-7D60-8D04-B086-B47D23CCCFD1}"/>
                </a:ext>
              </a:extLst>
            </p:cNvPr>
            <p:cNvSpPr/>
            <p:nvPr/>
          </p:nvSpPr>
          <p:spPr>
            <a:xfrm>
              <a:off x="0" y="2750820"/>
              <a:ext cx="2514600" cy="4114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000" kern="100" smtClean="0">
                  <a:latin typeface="Gill Sans MT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Model Training &amp; Evaluation</a:t>
              </a:r>
              <a:endParaRPr lang="en-IN" sz="2000" kern="100">
                <a:effectLst/>
                <a:latin typeface="Gill Sans MT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xmlns="" id="{5DBC1DD5-0797-1B1E-7D09-951F72079796}"/>
                </a:ext>
              </a:extLst>
            </p:cNvPr>
            <p:cNvSpPr/>
            <p:nvPr/>
          </p:nvSpPr>
          <p:spPr>
            <a:xfrm>
              <a:off x="1" y="3436620"/>
              <a:ext cx="2514600" cy="4953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000" kern="100" smtClean="0">
                  <a:latin typeface="Gill Sans MT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Ensemble Methods &amp; Explainability</a:t>
              </a:r>
              <a:endParaRPr lang="en-IN" sz="2000" kern="100">
                <a:effectLst/>
                <a:latin typeface="Gill Sans MT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xmlns="" id="{F53534CB-B2E2-BE8C-B403-91FAECEFCDDC}"/>
                </a:ext>
              </a:extLst>
            </p:cNvPr>
            <p:cNvCxnSpPr/>
            <p:nvPr/>
          </p:nvCxnSpPr>
          <p:spPr>
            <a:xfrm>
              <a:off x="1264920" y="387096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DF77AB0F-D310-B047-3868-C7F9ED0E658F}"/>
                </a:ext>
              </a:extLst>
            </p:cNvPr>
            <p:cNvCxnSpPr/>
            <p:nvPr/>
          </p:nvCxnSpPr>
          <p:spPr>
            <a:xfrm>
              <a:off x="1264920" y="2499360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xmlns="" id="{334566CC-89DE-90D6-A4EC-C497D14CB0CF}"/>
                </a:ext>
              </a:extLst>
            </p:cNvPr>
            <p:cNvSpPr/>
            <p:nvPr/>
          </p:nvSpPr>
          <p:spPr>
            <a:xfrm>
              <a:off x="22860" y="4086047"/>
              <a:ext cx="2449830" cy="37338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2000" kern="100" smtClean="0">
                  <a:latin typeface="Gill Sans MT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Model Saving &amp; Prediction</a:t>
              </a:r>
              <a:r>
                <a:rPr lang="en-US" sz="2000" kern="100" smtClean="0">
                  <a:effectLst/>
                  <a:latin typeface="Gill Sans MT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Output</a:t>
              </a:r>
              <a:endParaRPr lang="en-IN" sz="2000" kern="100">
                <a:effectLst/>
                <a:latin typeface="Gill Sans MT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Cylinder 15">
              <a:extLst>
                <a:ext uri="{FF2B5EF4-FFF2-40B4-BE49-F238E27FC236}">
                  <a16:creationId xmlns:a16="http://schemas.microsoft.com/office/drawing/2014/main" xmlns="" id="{E58BCF28-3C2B-98BF-431E-7C5E007E8CF0}"/>
                </a:ext>
              </a:extLst>
            </p:cNvPr>
            <p:cNvSpPr/>
            <p:nvPr/>
          </p:nvSpPr>
          <p:spPr>
            <a:xfrm>
              <a:off x="251461" y="0"/>
              <a:ext cx="2038893" cy="510541"/>
            </a:xfrm>
            <a:prstGeom prst="ca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kern="100" smtClean="0">
                  <a:latin typeface="Gill Sans MT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Data Ingestion &amp; Preprocessing</a:t>
              </a:r>
              <a:endParaRPr lang="en-IN" sz="2000" kern="100">
                <a:effectLst/>
                <a:latin typeface="Gill Sans MT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xmlns="" id="{BD5F28BA-4275-CDC1-3EC5-0255E8533204}"/>
                </a:ext>
              </a:extLst>
            </p:cNvPr>
            <p:cNvCxnSpPr/>
            <p:nvPr/>
          </p:nvCxnSpPr>
          <p:spPr>
            <a:xfrm flipH="1">
              <a:off x="1272540" y="3169920"/>
              <a:ext cx="15240" cy="266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578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4A60F32-27DF-3A98-D9C2-8C41DFB7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4C9E006D-5246-58F6-E588-2C0922871ECD}"/>
              </a:ext>
            </a:extLst>
          </p:cNvPr>
          <p:cNvSpPr txBox="1"/>
          <p:nvPr/>
        </p:nvSpPr>
        <p:spPr>
          <a:xfrm>
            <a:off x="480212" y="-168483"/>
            <a:ext cx="8361928" cy="5536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		 cont.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2CD44DE5-A20F-E89E-BB16-07701DC74DB1}"/>
              </a:ext>
            </a:extLst>
          </p:cNvPr>
          <p:cNvSpPr txBox="1"/>
          <p:nvPr/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056D3CEB-3778-A612-250E-7B618D9549FB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B98E295F-AD54-F063-80D6-38BC54B3526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03D7DDE-F70E-732B-339C-80805CED93D3}"/>
              </a:ext>
            </a:extLst>
          </p:cNvPr>
          <p:cNvSpPr txBox="1"/>
          <p:nvPr/>
        </p:nvSpPr>
        <p:spPr>
          <a:xfrm>
            <a:off x="1187624" y="3795886"/>
            <a:ext cx="604867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600" dirty="0"/>
              <a:t>Fig. 2: Schematic Model Diagram of the </a:t>
            </a:r>
            <a:r>
              <a:rPr lang="en-US" sz="1600"/>
              <a:t>Proposed </a:t>
            </a:r>
            <a:r>
              <a:rPr lang="en-US" sz="1600" smtClean="0"/>
              <a:t>Model</a:t>
            </a:r>
            <a:endParaRPr lang="en-IN" sz="1600" dirty="0"/>
          </a:p>
          <a:p>
            <a:endParaRPr lang="en-I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56D9FA1-9175-995D-6D8D-B91FB155B4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58728"/>
            <a:ext cx="7778296" cy="411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2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4A60F32-27DF-3A98-D9C2-8C41DFB7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4C9E006D-5246-58F6-E588-2C0922871ECD}"/>
              </a:ext>
            </a:extLst>
          </p:cNvPr>
          <p:cNvSpPr txBox="1"/>
          <p:nvPr/>
        </p:nvSpPr>
        <p:spPr>
          <a:xfrm>
            <a:off x="0" y="-168483"/>
            <a:ext cx="8361928" cy="5536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kumimoji="0" lang="en-US" sz="2800" b="1" i="0" u="none" strike="noStrike" kern="1200" cap="none" spc="-1" normalizeH="0" baseline="0" noProof="0" smtClean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Key</a:t>
            </a:r>
            <a:r>
              <a:rPr kumimoji="0" lang="en-US" sz="2800" b="1" i="0" u="none" strike="noStrike" kern="1200" cap="none" spc="-1" normalizeH="0" noProof="0" smtClean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Components/ Modules &amp; Algorithms Used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2CD44DE5-A20F-E89E-BB16-07701DC74DB1}"/>
              </a:ext>
            </a:extLst>
          </p:cNvPr>
          <p:cNvSpPr txBox="1"/>
          <p:nvPr/>
        </p:nvSpPr>
        <p:spPr>
          <a:xfrm>
            <a:off x="382778" y="699542"/>
            <a:ext cx="8504804" cy="438644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400" b="1">
                <a:latin typeface="Gill Sans MT" pitchFamily="34" charset="0"/>
              </a:rPr>
              <a:t>ML Models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Logistic Regression </a:t>
            </a:r>
            <a:r>
              <a:rPr lang="en-US" sz="2400" smtClean="0">
                <a:latin typeface="Gill Sans MT" pitchFamily="34" charset="0"/>
              </a:rPr>
              <a:t>– </a:t>
            </a:r>
            <a:r>
              <a:rPr lang="en-US" sz="2200" smtClean="0">
                <a:latin typeface="Gill Sans MT" pitchFamily="34" charset="0"/>
              </a:rPr>
              <a:t>Baseline classifier.</a:t>
            </a:r>
            <a:endParaRPr lang="en-US" sz="2200">
              <a:latin typeface="Gill Sans MT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Random Forest – </a:t>
            </a:r>
            <a:r>
              <a:rPr lang="en-US" sz="2200">
                <a:latin typeface="Gill Sans MT" pitchFamily="34" charset="0"/>
              </a:rPr>
              <a:t>200-tree ensemble </a:t>
            </a:r>
            <a:r>
              <a:rPr lang="en-US" sz="2200" smtClean="0">
                <a:latin typeface="Gill Sans MT" pitchFamily="34" charset="0"/>
              </a:rPr>
              <a:t>mode</a:t>
            </a:r>
            <a:r>
              <a:rPr lang="en-US" sz="2400" smtClean="0">
                <a:latin typeface="Gill Sans MT" pitchFamily="34" charset="0"/>
              </a:rPr>
              <a:t>l.</a:t>
            </a:r>
            <a:endParaRPr lang="en-US" sz="2400">
              <a:latin typeface="Gill Sans MT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Gradient Boosting – </a:t>
            </a:r>
            <a:r>
              <a:rPr lang="en-US" sz="2200">
                <a:latin typeface="Gill Sans MT" pitchFamily="34" charset="0"/>
              </a:rPr>
              <a:t>Boosted decision </a:t>
            </a:r>
            <a:r>
              <a:rPr lang="en-US" sz="2200" smtClean="0">
                <a:latin typeface="Gill Sans MT" pitchFamily="34" charset="0"/>
              </a:rPr>
              <a:t>trees.</a:t>
            </a:r>
            <a:r>
              <a:rPr lang="en-US" sz="2400" smtClean="0">
                <a:latin typeface="Gill Sans MT" pitchFamily="34" charset="0"/>
              </a:rPr>
              <a:t> </a:t>
            </a:r>
            <a:endParaRPr lang="en-US" sz="2400">
              <a:latin typeface="Gill Sans MT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SVM – </a:t>
            </a:r>
            <a:r>
              <a:rPr lang="en-US" sz="2200">
                <a:latin typeface="Gill Sans MT" pitchFamily="34" charset="0"/>
              </a:rPr>
              <a:t>RBF kernel </a:t>
            </a:r>
            <a:r>
              <a:rPr lang="en-US" sz="2200" smtClean="0">
                <a:latin typeface="Gill Sans MT" pitchFamily="34" charset="0"/>
              </a:rPr>
              <a:t>classifier</a:t>
            </a:r>
            <a:r>
              <a:rPr lang="en-US" sz="2400" smtClean="0">
                <a:latin typeface="Gill Sans MT" pitchFamily="34" charset="0"/>
              </a:rPr>
              <a:t>.</a:t>
            </a:r>
            <a:endParaRPr lang="en-US" sz="2400">
              <a:latin typeface="Gill Sans MT" pitchFamily="34" charset="0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XGBoost – </a:t>
            </a:r>
            <a:r>
              <a:rPr lang="en-US" sz="2200">
                <a:latin typeface="Gill Sans MT" pitchFamily="34" charset="0"/>
              </a:rPr>
              <a:t>Optimized boosting </a:t>
            </a:r>
            <a:r>
              <a:rPr lang="en-US" sz="2200" smtClean="0">
                <a:latin typeface="Gill Sans MT" pitchFamily="34" charset="0"/>
              </a:rPr>
              <a:t>model. </a:t>
            </a:r>
          </a:p>
          <a:p>
            <a:endParaRPr lang="en-US" sz="2200">
              <a:latin typeface="Gill Sans MT" pitchFamily="34" charset="0"/>
            </a:endParaRPr>
          </a:p>
          <a:p>
            <a:pPr marL="457200" indent="-457200">
              <a:buFont typeface="Wingdings" pitchFamily="2" charset="2"/>
              <a:buChar char="q"/>
            </a:pPr>
            <a:r>
              <a:rPr lang="en-US" sz="2400" b="1">
                <a:latin typeface="Gill Sans MT" pitchFamily="34" charset="0"/>
              </a:rPr>
              <a:t>Deep Learning &amp; Ensemble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ANN – </a:t>
            </a:r>
            <a:r>
              <a:rPr lang="en-US" sz="2200">
                <a:latin typeface="Gill Sans MT" pitchFamily="34" charset="0"/>
              </a:rPr>
              <a:t>4-layer deep neural network.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Soft Voting – </a:t>
            </a:r>
            <a:r>
              <a:rPr lang="en-US" sz="2200">
                <a:latin typeface="Gill Sans MT" pitchFamily="34" charset="0"/>
              </a:rPr>
              <a:t>RF + XGBoost + SVM combination.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>
                <a:latin typeface="Gill Sans MT" pitchFamily="34" charset="0"/>
              </a:rPr>
              <a:t>Stacking Ensemble – </a:t>
            </a:r>
            <a:r>
              <a:rPr lang="en-US" sz="2200">
                <a:latin typeface="Gill Sans MT" pitchFamily="34" charset="0"/>
              </a:rPr>
              <a:t>RF, XGBoost, SVM with Logistic Regression meta-learner.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200">
              <a:latin typeface="Gill Sans MT" pitchFamily="34" charset="0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056D3CEB-3778-A612-250E-7B618D9549FB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B98E295F-AD54-F063-80D6-38BC54B3526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808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D32329-4F88-B0E0-0252-E2D8B8F4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3FEF313C-EFC9-A169-AF9C-C3BF6A2847B6}"/>
              </a:ext>
            </a:extLst>
          </p:cNvPr>
          <p:cNvSpPr txBox="1"/>
          <p:nvPr/>
        </p:nvSpPr>
        <p:spPr>
          <a:xfrm>
            <a:off x="500034" y="123478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Dataset &amp; Tools/Technologies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C071F398-B6BD-852A-B8C2-E99AE7A3C9C0}"/>
              </a:ext>
            </a:extLst>
          </p:cNvPr>
          <p:cNvSpPr txBox="1"/>
          <p:nvPr/>
        </p:nvSpPr>
        <p:spPr>
          <a:xfrm>
            <a:off x="500034" y="769070"/>
            <a:ext cx="8504804" cy="439248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lvl="0" indent="-457200">
              <a:buFont typeface="Wingdings" pitchFamily="2" charset="2"/>
              <a:buChar char="q"/>
              <a:defRPr/>
            </a:pPr>
            <a:r>
              <a:rPr lang="en-US" sz="2400" b="1" spc="-1">
                <a:solidFill>
                  <a:srgbClr val="000000"/>
                </a:solidFill>
                <a:latin typeface="Gill Sans MT"/>
              </a:rPr>
              <a:t>DataSet Description :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200" spc="-1">
                <a:solidFill>
                  <a:srgbClr val="000000"/>
                </a:solidFill>
                <a:latin typeface="Gill Sans MT"/>
              </a:rPr>
              <a:t>Dataset :</a:t>
            </a:r>
            <a:r>
              <a:rPr lang="en-US" sz="2400" b="1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000" spc="-1" smtClean="0">
                <a:solidFill>
                  <a:srgbClr val="000000"/>
                </a:solidFill>
                <a:latin typeface="Gill Sans MT"/>
              </a:rPr>
              <a:t>Multi Dataset Phishing.</a:t>
            </a:r>
            <a:endParaRPr lang="en-US" sz="2000" spc="-1">
              <a:solidFill>
                <a:srgbClr val="000000"/>
              </a:solidFill>
              <a:latin typeface="Gill Sans MT"/>
            </a:endParaRP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200" spc="-1">
                <a:solidFill>
                  <a:srgbClr val="000000"/>
                </a:solidFill>
                <a:latin typeface="Gill Sans MT"/>
              </a:rPr>
              <a:t>Source :</a:t>
            </a:r>
            <a:r>
              <a:rPr lang="en-US" sz="2400" b="1" spc="-1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000" spc="-1">
                <a:solidFill>
                  <a:srgbClr val="000000"/>
                </a:solidFill>
                <a:latin typeface="Gill Sans MT"/>
                <a:hlinkClick r:id="rId2"/>
              </a:rPr>
              <a:t>https://www.kaggle.com/datasets/yasserhessein/multi-dataset-phishing</a:t>
            </a:r>
            <a:endParaRPr lang="en-US" sz="2000" spc="-1">
              <a:solidFill>
                <a:srgbClr val="000000"/>
              </a:solidFill>
              <a:latin typeface="Gill Sans MT"/>
            </a:endParaRP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000" spc="-1" smtClean="0">
                <a:solidFill>
                  <a:srgbClr val="000000"/>
                </a:solidFill>
                <a:latin typeface="Gill Sans MT"/>
              </a:rPr>
              <a:t>Types : Multi-dataset aggregated phishing URLs/Websites.</a:t>
            </a:r>
            <a:endParaRPr lang="en-US" sz="2000" spc="-1">
              <a:solidFill>
                <a:srgbClr val="000000"/>
              </a:solidFill>
              <a:latin typeface="Gill Sans MT"/>
            </a:endParaRP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200" spc="-1" smtClean="0">
                <a:solidFill>
                  <a:srgbClr val="000000"/>
                </a:solidFill>
                <a:latin typeface="Gill Sans MT"/>
              </a:rPr>
              <a:t>Classes </a:t>
            </a:r>
            <a:r>
              <a:rPr lang="en-US" sz="2200" spc="-1">
                <a:solidFill>
                  <a:srgbClr val="000000"/>
                </a:solidFill>
                <a:latin typeface="Gill Sans MT"/>
              </a:rPr>
              <a:t>:</a:t>
            </a:r>
          </a:p>
          <a:p>
            <a:pPr marL="1257300" lvl="2" indent="-342900">
              <a:buFont typeface="Courier New" pitchFamily="49" charset="0"/>
              <a:buChar char="o"/>
              <a:defRPr/>
            </a:pPr>
            <a:r>
              <a:rPr lang="en-US" sz="2000" spc="-1">
                <a:solidFill>
                  <a:srgbClr val="000000"/>
                </a:solidFill>
                <a:latin typeface="Gill Sans MT"/>
              </a:rPr>
              <a:t>Phishing (1)</a:t>
            </a:r>
          </a:p>
          <a:p>
            <a:pPr marL="1257300" lvl="2" indent="-342900">
              <a:buFont typeface="Courier New" pitchFamily="49" charset="0"/>
              <a:buChar char="o"/>
              <a:defRPr/>
            </a:pPr>
            <a:r>
              <a:rPr lang="en-US" sz="2000" spc="-1">
                <a:solidFill>
                  <a:srgbClr val="000000"/>
                </a:solidFill>
                <a:latin typeface="Gill Sans MT"/>
              </a:rPr>
              <a:t>Legitimate (0)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200" spc="-1">
                <a:solidFill>
                  <a:srgbClr val="000000"/>
                </a:solidFill>
                <a:latin typeface="Gill Sans MT"/>
              </a:rPr>
              <a:t>Features Used :</a:t>
            </a:r>
            <a:r>
              <a:rPr lang="en-US" sz="2400" b="1" spc="-1">
                <a:solidFill>
                  <a:srgbClr val="000000"/>
                </a:solidFill>
                <a:latin typeface="Gill Sans MT"/>
              </a:rPr>
              <a:t> </a:t>
            </a:r>
          </a:p>
          <a:p>
            <a:pPr marL="1257300" lvl="2" indent="-342900">
              <a:buFont typeface="Courier New" pitchFamily="49" charset="0"/>
              <a:buChar char="o"/>
              <a:defRPr/>
            </a:pPr>
            <a:r>
              <a:rPr lang="en-US" sz="2000" spc="-1">
                <a:solidFill>
                  <a:srgbClr val="000000"/>
                </a:solidFill>
                <a:latin typeface="Gill Sans MT"/>
              </a:rPr>
              <a:t>URL-based features (length,symbols).</a:t>
            </a:r>
          </a:p>
          <a:p>
            <a:pPr marL="1257300" lvl="2" indent="-342900">
              <a:buFont typeface="Courier New" pitchFamily="49" charset="0"/>
              <a:buChar char="o"/>
              <a:defRPr/>
            </a:pPr>
            <a:r>
              <a:rPr lang="en-US" sz="2000" spc="-1">
                <a:solidFill>
                  <a:srgbClr val="000000"/>
                </a:solidFill>
                <a:latin typeface="Gill Sans MT"/>
              </a:rPr>
              <a:t>Structural features &amp; Token-based features</a:t>
            </a:r>
            <a:r>
              <a:rPr lang="en-US" sz="2000" spc="-1" smtClean="0">
                <a:solidFill>
                  <a:srgbClr val="000000"/>
                </a:solidFill>
                <a:latin typeface="Gill Sans MT"/>
              </a:rPr>
              <a:t>.</a:t>
            </a:r>
            <a:endParaRPr lang="en-US" sz="2000" spc="-1">
              <a:solidFill>
                <a:srgbClr val="000000"/>
              </a:solidFill>
              <a:latin typeface="Gill Sans MT"/>
            </a:endParaRP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200" spc="-1" smtClean="0">
                <a:solidFill>
                  <a:srgbClr val="000000"/>
                </a:solidFill>
                <a:latin typeface="Gill Sans MT"/>
              </a:rPr>
              <a:t>Training </a:t>
            </a:r>
            <a:r>
              <a:rPr lang="en-US" sz="2200" spc="-1">
                <a:solidFill>
                  <a:srgbClr val="000000"/>
                </a:solidFill>
                <a:latin typeface="Gill Sans MT"/>
              </a:rPr>
              <a:t>Data Used :  </a:t>
            </a:r>
            <a:r>
              <a:rPr lang="en-US" sz="2000" spc="-1" smtClean="0">
                <a:solidFill>
                  <a:srgbClr val="000000"/>
                </a:solidFill>
                <a:latin typeface="Gill Sans MT"/>
              </a:rPr>
              <a:t>10,000 </a:t>
            </a:r>
            <a:r>
              <a:rPr lang="en-US" sz="2000" spc="-1">
                <a:solidFill>
                  <a:srgbClr val="000000"/>
                </a:solidFill>
                <a:latin typeface="Gill Sans MT"/>
              </a:rPr>
              <a:t>samples.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200" spc="-1">
                <a:solidFill>
                  <a:srgbClr val="000000"/>
                </a:solidFill>
                <a:latin typeface="Gill Sans MT"/>
              </a:rPr>
              <a:t>Data Type : </a:t>
            </a:r>
            <a:r>
              <a:rPr lang="en-US" sz="2000" spc="-1" smtClean="0">
                <a:solidFill>
                  <a:srgbClr val="000000"/>
                </a:solidFill>
                <a:latin typeface="Gill Sans MT"/>
              </a:rPr>
              <a:t>CSV/XLSX.</a:t>
            </a:r>
            <a:endParaRPr lang="en-US" sz="2000" spc="-1">
              <a:solidFill>
                <a:srgbClr val="000000"/>
              </a:solidFill>
              <a:latin typeface="Gill Sans MT"/>
            </a:endParaRPr>
          </a:p>
          <a:p>
            <a:pPr marL="342900" lvl="0" indent="-342900">
              <a:buFont typeface="Arial" pitchFamily="34" charset="0"/>
              <a:buChar char="•"/>
              <a:defRPr/>
            </a:pPr>
            <a:endParaRPr lang="en-US" sz="2400" b="1" spc="-1">
              <a:solidFill>
                <a:srgbClr val="000000"/>
              </a:solidFill>
              <a:latin typeface="Gill Sans MT"/>
            </a:endParaRPr>
          </a:p>
          <a:p>
            <a:pPr lvl="0"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marL="457200" lvl="0" indent="-457200">
              <a:buFont typeface="Wingdings" pitchFamily="2" charset="2"/>
              <a:buChar char="q"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marL="859680" lvl="0" indent="-457200">
              <a:spcBef>
                <a:spcPts val="550"/>
              </a:spcBef>
              <a:buFont typeface="Wingdings" pitchFamily="2" charset="2"/>
              <a:buChar char="q"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marL="457200" lvl="0" indent="-457200">
              <a:spcBef>
                <a:spcPts val="601"/>
              </a:spcBef>
              <a:buFont typeface="Wingdings" pitchFamily="2" charset="2"/>
              <a:buChar char="q"/>
              <a:defRPr/>
            </a:pPr>
            <a:endParaRPr lang="en-US" sz="28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1CD427EE-1FA4-386B-72E7-D515FE14BCF7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0E8E06F2-3FBE-0B4E-96F3-8E0E72FFBFB9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261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D32329-4F88-B0E0-0252-E2D8B8F4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3FEF313C-EFC9-A169-AF9C-C3BF6A2847B6}"/>
              </a:ext>
            </a:extLst>
          </p:cNvPr>
          <p:cNvSpPr txBox="1"/>
          <p:nvPr/>
        </p:nvSpPr>
        <p:spPr>
          <a:xfrm>
            <a:off x="500034" y="123478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Dataset &amp; Tools/Technologies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C071F398-B6BD-852A-B8C2-E99AE7A3C9C0}"/>
              </a:ext>
            </a:extLst>
          </p:cNvPr>
          <p:cNvSpPr txBox="1"/>
          <p:nvPr/>
        </p:nvSpPr>
        <p:spPr>
          <a:xfrm>
            <a:off x="500034" y="769070"/>
            <a:ext cx="8504804" cy="439248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lvl="0" indent="-457200">
              <a:buFont typeface="Wingdings" pitchFamily="2" charset="2"/>
              <a:buChar char="q"/>
              <a:defRPr/>
            </a:pPr>
            <a:r>
              <a:rPr lang="en-US" sz="2400" b="1" spc="-1">
                <a:solidFill>
                  <a:srgbClr val="000000"/>
                </a:solidFill>
                <a:latin typeface="Gill Sans MT" pitchFamily="34" charset="0"/>
              </a:rPr>
              <a:t>Tools/Technologies :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200" spc="-1">
                <a:solidFill>
                  <a:srgbClr val="000000"/>
                </a:solidFill>
                <a:latin typeface="Gill Sans MT" pitchFamily="34" charset="0"/>
              </a:rPr>
              <a:t>Language </a:t>
            </a:r>
            <a:r>
              <a:rPr lang="en-US" sz="2400" spc="-1">
                <a:solidFill>
                  <a:srgbClr val="000000"/>
                </a:solidFill>
                <a:latin typeface="Gill Sans MT" pitchFamily="34" charset="0"/>
              </a:rPr>
              <a:t>: </a:t>
            </a:r>
            <a:r>
              <a:rPr lang="en-US" sz="2000" spc="-1" smtClean="0">
                <a:solidFill>
                  <a:srgbClr val="000000"/>
                </a:solidFill>
                <a:latin typeface="Gill Sans MT" pitchFamily="34" charset="0"/>
              </a:rPr>
              <a:t>Python3(Google Colab).</a:t>
            </a:r>
            <a:endParaRPr lang="en-US" sz="2000" spc="-1">
              <a:solidFill>
                <a:srgbClr val="000000"/>
              </a:solidFill>
              <a:latin typeface="Gill Sans MT" pitchFamily="34" charset="0"/>
            </a:endParaRP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200" spc="-1">
                <a:solidFill>
                  <a:srgbClr val="000000"/>
                </a:solidFill>
                <a:latin typeface="Gill Sans MT" pitchFamily="34" charset="0"/>
              </a:rPr>
              <a:t>Frameworks :  </a:t>
            </a:r>
            <a:r>
              <a:rPr lang="en-US" sz="2000">
                <a:latin typeface="Gill Sans MT" pitchFamily="34" charset="0"/>
              </a:rPr>
              <a:t>NumPy, Pandas, Scikit-learn, XGBoost, </a:t>
            </a:r>
            <a:r>
              <a:rPr lang="en-US" sz="2000" smtClean="0">
                <a:latin typeface="Gill Sans MT" pitchFamily="34" charset="0"/>
              </a:rPr>
              <a:t>TensorFlow/keras, </a:t>
            </a:r>
            <a:r>
              <a:rPr lang="en-US" sz="2000">
                <a:latin typeface="Gill Sans MT" pitchFamily="34" charset="0"/>
              </a:rPr>
              <a:t>SHAP, </a:t>
            </a:r>
            <a:r>
              <a:rPr lang="en-US" sz="2000" smtClean="0">
                <a:latin typeface="Gill Sans MT" pitchFamily="34" charset="0"/>
              </a:rPr>
              <a:t>Matplotlib,Seaborn,imbalanced-learn(SMOTE),joblib.</a:t>
            </a:r>
            <a:endParaRPr lang="en-US" sz="2000">
              <a:latin typeface="Gill Sans MT" pitchFamily="34" charset="0"/>
            </a:endParaRP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200" spc="-1">
                <a:solidFill>
                  <a:srgbClr val="000000"/>
                </a:solidFill>
                <a:latin typeface="Gill Sans MT" pitchFamily="34" charset="0"/>
              </a:rPr>
              <a:t>Hardware :  </a:t>
            </a:r>
          </a:p>
          <a:p>
            <a:pPr marL="1257300" lvl="2" indent="-342900">
              <a:buFont typeface="Courier New" pitchFamily="49" charset="0"/>
              <a:buChar char="o"/>
              <a:defRPr/>
            </a:pPr>
            <a:r>
              <a:rPr lang="en-US" sz="2000">
                <a:latin typeface="Gill Sans MT" pitchFamily="34" charset="0"/>
              </a:rPr>
              <a:t>Intel i5/i7 or equivalent processor .</a:t>
            </a:r>
          </a:p>
          <a:p>
            <a:pPr marL="1257300" lvl="2" indent="-342900">
              <a:buFont typeface="Courier New" pitchFamily="49" charset="0"/>
              <a:buChar char="o"/>
              <a:defRPr/>
            </a:pPr>
            <a:r>
              <a:rPr lang="en-US" sz="2000">
                <a:latin typeface="Gill Sans MT" pitchFamily="34" charset="0"/>
              </a:rPr>
              <a:t> 8 GB RAM (minimum) - 16 GB recommended .</a:t>
            </a:r>
          </a:p>
          <a:p>
            <a:pPr marL="1257300" lvl="2" indent="-342900">
              <a:buFont typeface="Courier New" pitchFamily="49" charset="0"/>
              <a:buChar char="o"/>
              <a:defRPr/>
            </a:pPr>
            <a:r>
              <a:rPr lang="en-US" sz="2000">
                <a:latin typeface="Gill Sans MT" pitchFamily="34" charset="0"/>
              </a:rPr>
              <a:t>100 GB free storage (SSD preferred) .</a:t>
            </a:r>
            <a:endParaRPr lang="en-US" sz="2000" spc="-1">
              <a:solidFill>
                <a:srgbClr val="000000"/>
              </a:solidFill>
              <a:latin typeface="Gill Sans MT" pitchFamily="34" charset="0"/>
            </a:endParaRPr>
          </a:p>
          <a:p>
            <a:pPr lvl="1">
              <a:defRPr/>
            </a:pPr>
            <a:r>
              <a:rPr lang="en-US" sz="2200" spc="-1">
                <a:solidFill>
                  <a:srgbClr val="000000"/>
                </a:solidFill>
                <a:latin typeface="Gill Sans MT"/>
              </a:rPr>
              <a:t>   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endParaRPr lang="en-US" sz="2400" b="1" spc="-1">
              <a:solidFill>
                <a:srgbClr val="000000"/>
              </a:solidFill>
              <a:latin typeface="Gill Sans MT"/>
            </a:endParaRPr>
          </a:p>
          <a:p>
            <a:pPr lvl="0"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marL="457200" lvl="0" indent="-457200">
              <a:buFont typeface="Wingdings" pitchFamily="2" charset="2"/>
              <a:buChar char="q"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marL="859680" lvl="0" indent="-457200">
              <a:spcBef>
                <a:spcPts val="550"/>
              </a:spcBef>
              <a:buFont typeface="Wingdings" pitchFamily="2" charset="2"/>
              <a:buChar char="q"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marL="457200" lvl="0" indent="-457200">
              <a:spcBef>
                <a:spcPts val="601"/>
              </a:spcBef>
              <a:buFont typeface="Wingdings" pitchFamily="2" charset="2"/>
              <a:buChar char="q"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lvl="0">
              <a:spcBef>
                <a:spcPts val="601"/>
              </a:spcBef>
              <a:defRPr/>
            </a:pPr>
            <a:endParaRPr lang="en-US" sz="28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1CD427EE-1FA4-386B-72E7-D515FE14BCF7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0E8E06F2-3FBE-0B4E-96F3-8E0E72FFBFB9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678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Experimentation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08774" y="922006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800" b="1" spc="-1">
                <a:latin typeface="Gill Sans MT"/>
              </a:rPr>
              <a:t>System </a:t>
            </a:r>
            <a:r>
              <a:rPr lang="en-US" sz="2800" b="1" spc="-1" smtClean="0">
                <a:latin typeface="Gill Sans MT"/>
              </a:rPr>
              <a:t>Specification </a:t>
            </a:r>
            <a:r>
              <a:rPr lang="en-US" sz="2800" spc="-1" smtClean="0">
                <a:latin typeface="Gill Sans MT"/>
              </a:rPr>
              <a:t>: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endParaRPr lang="en-US" sz="2800" spc="-1">
              <a:latin typeface="Gill Sans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043893"/>
              </p:ext>
            </p:extLst>
          </p:nvPr>
        </p:nvGraphicFramePr>
        <p:xfrm>
          <a:off x="673784" y="1517295"/>
          <a:ext cx="8218696" cy="33715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8363"/>
                <a:gridCol w="5880333"/>
              </a:tblGrid>
              <a:tr h="439805">
                <a:tc>
                  <a:txBody>
                    <a:bodyPr/>
                    <a:lstStyle/>
                    <a:p>
                      <a:r>
                        <a:rPr lang="en-US" sz="2400" b="1" smtClean="0">
                          <a:latin typeface="Gill Sans MT" pitchFamily="34" charset="0"/>
                        </a:rPr>
                        <a:t>Parameter</a:t>
                      </a:r>
                      <a:endParaRPr lang="en-US" sz="2400" b="1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smtClean="0">
                          <a:latin typeface="Gill Sans MT" pitchFamily="34" charset="0"/>
                        </a:rPr>
                        <a:t>Specification</a:t>
                      </a:r>
                      <a:endParaRPr lang="en-US" sz="2400" b="1">
                        <a:latin typeface="Gill Sans MT" pitchFamily="34" charset="0"/>
                      </a:endParaRPr>
                    </a:p>
                  </a:txBody>
                  <a:tcPr/>
                </a:tc>
              </a:tr>
              <a:tr h="575209">
                <a:tc>
                  <a:txBody>
                    <a:bodyPr/>
                    <a:lstStyle/>
                    <a:p>
                      <a:r>
                        <a:rPr lang="en-US" sz="2200" smtClean="0">
                          <a:latin typeface="Gill Sans MT" pitchFamily="34" charset="0"/>
                        </a:rPr>
                        <a:t>Platform</a:t>
                      </a:r>
                      <a:endParaRPr lang="en-US" sz="220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smtClean="0">
                          <a:latin typeface="Gill Sans MT" pitchFamily="34" charset="0"/>
                        </a:rPr>
                        <a:t>Google</a:t>
                      </a:r>
                      <a:r>
                        <a:rPr lang="en-US" sz="2200" baseline="0" smtClean="0">
                          <a:latin typeface="Gill Sans MT" pitchFamily="34" charset="0"/>
                        </a:rPr>
                        <a:t> Colab(cloud-based Jupyter Environment)</a:t>
                      </a:r>
                      <a:endParaRPr lang="en-US" sz="2200">
                        <a:latin typeface="Gill Sans MT" pitchFamily="34" charset="0"/>
                      </a:endParaRPr>
                    </a:p>
                  </a:txBody>
                  <a:tcPr/>
                </a:tc>
              </a:tr>
              <a:tr h="575209">
                <a:tc>
                  <a:txBody>
                    <a:bodyPr/>
                    <a:lstStyle/>
                    <a:p>
                      <a:r>
                        <a:rPr lang="en-US" sz="2200" smtClean="0">
                          <a:latin typeface="Gill Sans MT" pitchFamily="34" charset="0"/>
                        </a:rPr>
                        <a:t>Runtime Type</a:t>
                      </a:r>
                      <a:endParaRPr lang="en-US" sz="220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smtClean="0">
                          <a:latin typeface="Gill Sans MT" pitchFamily="34" charset="0"/>
                        </a:rPr>
                        <a:t>Python 3(CPU/</a:t>
                      </a:r>
                      <a:r>
                        <a:rPr lang="en-US" sz="2200" baseline="0" smtClean="0">
                          <a:latin typeface="Gill Sans MT" pitchFamily="34" charset="0"/>
                        </a:rPr>
                        <a:t> GPU depending on session)</a:t>
                      </a:r>
                      <a:endParaRPr lang="en-US" sz="2200">
                        <a:latin typeface="Gill Sans MT" pitchFamily="34" charset="0"/>
                      </a:endParaRPr>
                    </a:p>
                  </a:txBody>
                  <a:tcPr/>
                </a:tc>
              </a:tr>
              <a:tr h="398377">
                <a:tc>
                  <a:txBody>
                    <a:bodyPr/>
                    <a:lstStyle/>
                    <a:p>
                      <a:r>
                        <a:rPr lang="en-US" sz="2200" smtClean="0">
                          <a:latin typeface="Gill Sans MT" pitchFamily="34" charset="0"/>
                        </a:rPr>
                        <a:t>Primary Language</a:t>
                      </a:r>
                      <a:endParaRPr lang="en-US" sz="220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smtClean="0">
                          <a:latin typeface="Gill Sans MT" pitchFamily="34" charset="0"/>
                        </a:rPr>
                        <a:t>Python 3.x</a:t>
                      </a:r>
                      <a:endParaRPr lang="en-US" sz="2200">
                        <a:latin typeface="Gill Sans MT" pitchFamily="34" charset="0"/>
                      </a:endParaRPr>
                    </a:p>
                  </a:txBody>
                  <a:tcPr/>
                </a:tc>
              </a:tr>
              <a:tr h="575209">
                <a:tc>
                  <a:txBody>
                    <a:bodyPr/>
                    <a:lstStyle/>
                    <a:p>
                      <a:r>
                        <a:rPr lang="en-US" sz="2200" smtClean="0">
                          <a:latin typeface="Gill Sans MT" pitchFamily="34" charset="0"/>
                        </a:rPr>
                        <a:t>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smtClean="0">
                          <a:latin typeface="Gill Sans MT" pitchFamily="34" charset="0"/>
                        </a:rPr>
                        <a:t>Linux(Ubuntu-based,Google</a:t>
                      </a:r>
                      <a:r>
                        <a:rPr lang="en-US" sz="2200" baseline="0" smtClean="0">
                          <a:latin typeface="Gill Sans MT" pitchFamily="34" charset="0"/>
                        </a:rPr>
                        <a:t> Colab backend)</a:t>
                      </a:r>
                      <a:endParaRPr lang="en-US" sz="2200">
                        <a:latin typeface="Gill Sans MT" pitchFamily="34" charset="0"/>
                      </a:endParaRPr>
                    </a:p>
                  </a:txBody>
                  <a:tcPr/>
                </a:tc>
              </a:tr>
              <a:tr h="535023">
                <a:tc>
                  <a:txBody>
                    <a:bodyPr/>
                    <a:lstStyle/>
                    <a:p>
                      <a:r>
                        <a:rPr lang="en-US" sz="2200" smtClean="0">
                          <a:latin typeface="Gill Sans MT" pitchFamily="34" charset="0"/>
                        </a:rPr>
                        <a:t>Storage</a:t>
                      </a:r>
                      <a:endParaRPr lang="en-US" sz="2200"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smtClean="0">
                          <a:latin typeface="Gill Sans MT" pitchFamily="34" charset="0"/>
                          <a:hlinkClick r:id="rId3"/>
                        </a:rPr>
                        <a:t>https://colab.research.google.com/drive/1cV6lnKY8hk_8rSm_HM0U62n5LXsLXGV4?usp=sharing</a:t>
                      </a:r>
                      <a:endParaRPr lang="en-US" sz="2200">
                        <a:latin typeface="Gill Sans MT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28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Experimentation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0" y="922006"/>
            <a:ext cx="9144000" cy="42214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800" b="1" spc="-1">
                <a:latin typeface="Gill Sans MT"/>
              </a:rPr>
              <a:t>Experimental Results </a:t>
            </a:r>
            <a:r>
              <a:rPr lang="en-US" sz="2800" spc="-1" smtClean="0">
                <a:latin typeface="Gill Sans MT"/>
              </a:rPr>
              <a:t>: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endParaRPr lang="en-US" sz="2800" spc="-1">
              <a:latin typeface="Gill Sans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                            </a:t>
            </a:r>
            <a:r>
              <a:rPr kumimoji="0" lang="en-US" sz="1600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Fig. 3 : Result</a:t>
            </a:r>
            <a:r>
              <a:rPr kumimoji="0" lang="en-US" sz="1600" i="0" u="none" strike="noStrike" kern="1200" cap="none" spc="-1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of All Model</a:t>
            </a:r>
            <a:endParaRPr kumimoji="0" lang="en-US" sz="200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419622"/>
            <a:ext cx="7227924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61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Experimentation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1" y="922006"/>
            <a:ext cx="9143999" cy="42214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800" b="1" spc="-1">
                <a:latin typeface="Gill Sans MT"/>
              </a:rPr>
              <a:t>Experimental </a:t>
            </a:r>
            <a:r>
              <a:rPr lang="en-US" sz="2800" b="1" spc="-1" smtClean="0">
                <a:latin typeface="Gill Sans MT"/>
              </a:rPr>
              <a:t>Results(Confusion Matrix)</a:t>
            </a:r>
            <a:r>
              <a:rPr lang="en-US" sz="2800" spc="-1" smtClean="0">
                <a:latin typeface="Gill Sans MT"/>
              </a:rPr>
              <a:t> :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endParaRPr lang="en-US" sz="2800" spc="-1">
              <a:latin typeface="Gill Sans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                            </a:t>
            </a:r>
            <a:r>
              <a:rPr kumimoji="0" lang="en-US" sz="1600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Fig. 4 : Confusion</a:t>
            </a:r>
            <a:r>
              <a:rPr kumimoji="0" lang="en-US" sz="1600" i="0" u="none" strike="noStrike" kern="1200" cap="none" spc="-1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Matrix of All Model</a:t>
            </a:r>
            <a:endParaRPr kumimoji="0" lang="en-US" sz="200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39521"/>
            <a:ext cx="4427984" cy="33289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642" y="1482962"/>
            <a:ext cx="4657533" cy="304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0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Experimentation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1" y="922006"/>
            <a:ext cx="9143999" cy="42214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800" b="1" spc="-1">
                <a:latin typeface="Gill Sans MT"/>
              </a:rPr>
              <a:t>Experimental </a:t>
            </a:r>
            <a:r>
              <a:rPr lang="en-US" sz="2800" b="1" spc="-1" smtClean="0">
                <a:latin typeface="Gill Sans MT"/>
              </a:rPr>
              <a:t>Results(ANN Training Curves) </a:t>
            </a:r>
            <a:r>
              <a:rPr lang="en-US" sz="2800" spc="-1">
                <a:latin typeface="Gill Sans MT"/>
              </a:rPr>
              <a:t>: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endParaRPr lang="en-US" sz="2800" spc="-1">
              <a:latin typeface="Gill Sans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lvl="0">
              <a:spcBef>
                <a:spcPts val="601"/>
              </a:spcBef>
              <a:defRPr/>
            </a:pPr>
            <a:r>
              <a:rPr kumimoji="0" lang="en-US" sz="2800" b="0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                            </a:t>
            </a:r>
            <a:r>
              <a:rPr lang="en-US" sz="1600" spc="-1" smtClean="0">
                <a:solidFill>
                  <a:srgbClr val="000000"/>
                </a:solidFill>
                <a:latin typeface="Gill Sans MT"/>
              </a:rPr>
              <a:t>Fig. 5 </a:t>
            </a:r>
            <a:r>
              <a:rPr lang="en-US" sz="1600" spc="-1">
                <a:solidFill>
                  <a:srgbClr val="000000"/>
                </a:solidFill>
                <a:latin typeface="Gill Sans MT"/>
              </a:rPr>
              <a:t>: </a:t>
            </a:r>
            <a:r>
              <a:rPr lang="en-US" sz="1600" spc="-1" smtClean="0">
                <a:solidFill>
                  <a:srgbClr val="000000"/>
                </a:solidFill>
                <a:latin typeface="Gill Sans MT"/>
              </a:rPr>
              <a:t>ANN Training Curves </a:t>
            </a:r>
            <a:r>
              <a:rPr kumimoji="0" lang="en-US" sz="1600" i="0" u="none" strike="noStrike" kern="1200" cap="none" spc="-1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of All Model</a:t>
            </a:r>
            <a:endParaRPr kumimoji="0" lang="en-US" sz="200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491630"/>
            <a:ext cx="6192688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43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Experimentation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0" y="922006"/>
            <a:ext cx="9143999" cy="42214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800" b="1" spc="-1">
                <a:latin typeface="Gill Sans MT"/>
              </a:rPr>
              <a:t>Experimental </a:t>
            </a:r>
            <a:r>
              <a:rPr lang="en-US" sz="2800" b="1" spc="-1" smtClean="0">
                <a:latin typeface="Gill Sans MT"/>
              </a:rPr>
              <a:t>Results(Metrics comparison</a:t>
            </a:r>
            <a:r>
              <a:rPr lang="en-US" sz="2800" b="1" spc="-1">
                <a:latin typeface="Gill Sans MT"/>
              </a:rPr>
              <a:t>) :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endParaRPr lang="en-US" sz="2800" spc="-1">
              <a:latin typeface="Gill Sans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lvl="0">
              <a:spcBef>
                <a:spcPts val="601"/>
              </a:spcBef>
              <a:defRPr/>
            </a:pPr>
            <a:r>
              <a:rPr kumimoji="0" lang="en-US" sz="2800" b="0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                            </a:t>
            </a:r>
            <a:r>
              <a:rPr lang="en-US" sz="1600" spc="-1" smtClean="0">
                <a:solidFill>
                  <a:srgbClr val="000000"/>
                </a:solidFill>
                <a:latin typeface="Gill Sans MT"/>
              </a:rPr>
              <a:t>Fig. 6 </a:t>
            </a:r>
            <a:r>
              <a:rPr lang="en-US" sz="1600" spc="-1">
                <a:solidFill>
                  <a:srgbClr val="000000"/>
                </a:solidFill>
                <a:latin typeface="Gill Sans MT"/>
              </a:rPr>
              <a:t>: M</a:t>
            </a:r>
            <a:r>
              <a:rPr lang="en-US" sz="1600" spc="-1" smtClean="0">
                <a:solidFill>
                  <a:srgbClr val="000000"/>
                </a:solidFill>
                <a:latin typeface="Gill Sans MT"/>
              </a:rPr>
              <a:t>etrics comparison</a:t>
            </a:r>
            <a:r>
              <a:rPr kumimoji="0" lang="en-US" sz="1600" i="0" u="none" strike="noStrike" kern="1200" cap="none" spc="-1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of All Model</a:t>
            </a:r>
            <a:endParaRPr kumimoji="0" lang="en-US" sz="200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951" y="1509225"/>
            <a:ext cx="6098161" cy="322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9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Experimentation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1" y="922006"/>
            <a:ext cx="9143999" cy="42214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800" b="1" spc="-1">
                <a:latin typeface="Gill Sans MT"/>
              </a:rPr>
              <a:t>Experimental </a:t>
            </a:r>
            <a:r>
              <a:rPr lang="en-US" sz="2800" b="1" spc="-1" smtClean="0">
                <a:latin typeface="Gill Sans MT"/>
              </a:rPr>
              <a:t>Results(ROC Curves) </a:t>
            </a:r>
            <a:r>
              <a:rPr lang="en-US" sz="2800" b="1" spc="-1">
                <a:latin typeface="Gill Sans MT"/>
              </a:rPr>
              <a:t>: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endParaRPr lang="en-US" sz="2800" spc="-1">
              <a:latin typeface="Gill Sans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lvl="0">
              <a:spcBef>
                <a:spcPts val="601"/>
              </a:spcBef>
              <a:defRPr/>
            </a:pPr>
            <a:r>
              <a:rPr kumimoji="0" lang="en-US" sz="2800" b="0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                            </a:t>
            </a:r>
            <a:r>
              <a:rPr lang="en-US" sz="1600" spc="-1" smtClean="0">
                <a:solidFill>
                  <a:srgbClr val="000000"/>
                </a:solidFill>
                <a:latin typeface="Gill Sans MT"/>
              </a:rPr>
              <a:t>Fig. 7 </a:t>
            </a:r>
            <a:r>
              <a:rPr lang="en-US" sz="1600" spc="-1">
                <a:solidFill>
                  <a:srgbClr val="000000"/>
                </a:solidFill>
                <a:latin typeface="Gill Sans MT"/>
              </a:rPr>
              <a:t>: </a:t>
            </a:r>
            <a:r>
              <a:rPr lang="en-US" sz="1600" spc="-1" smtClean="0">
                <a:solidFill>
                  <a:srgbClr val="000000"/>
                </a:solidFill>
                <a:latin typeface="Gill Sans MT"/>
              </a:rPr>
              <a:t>ROC Curves </a:t>
            </a:r>
            <a:r>
              <a:rPr kumimoji="0" lang="en-US" sz="1600" i="0" u="none" strike="noStrike" kern="1200" cap="none" spc="-1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of All Model</a:t>
            </a:r>
            <a:endParaRPr kumimoji="0" lang="en-US" sz="200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509225"/>
            <a:ext cx="6264695" cy="322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Experimentation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1" y="922006"/>
            <a:ext cx="9143999" cy="42214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800" b="1" spc="-1">
                <a:latin typeface="Gill Sans MT"/>
              </a:rPr>
              <a:t>Experimental </a:t>
            </a:r>
            <a:r>
              <a:rPr lang="en-US" sz="2800" b="1" spc="-1" smtClean="0">
                <a:latin typeface="Gill Sans MT"/>
              </a:rPr>
              <a:t>Results(Radar chart </a:t>
            </a:r>
            <a:r>
              <a:rPr lang="en-US" sz="2800" b="1" spc="-1">
                <a:latin typeface="Gill Sans MT"/>
              </a:rPr>
              <a:t>) :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endParaRPr lang="en-US" sz="2800" spc="-1">
              <a:latin typeface="Gill Sans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lvl="0">
              <a:spcBef>
                <a:spcPts val="601"/>
              </a:spcBef>
              <a:defRPr/>
            </a:pPr>
            <a:r>
              <a:rPr kumimoji="0" lang="en-US" sz="2800" b="0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                            </a:t>
            </a:r>
            <a:r>
              <a:rPr lang="en-US" sz="1600" spc="-1" smtClean="0">
                <a:solidFill>
                  <a:srgbClr val="000000"/>
                </a:solidFill>
                <a:latin typeface="Gill Sans MT"/>
              </a:rPr>
              <a:t>Fig. </a:t>
            </a:r>
            <a:r>
              <a:rPr lang="en-US" sz="1600" spc="-1">
                <a:solidFill>
                  <a:srgbClr val="000000"/>
                </a:solidFill>
                <a:latin typeface="Gill Sans MT"/>
              </a:rPr>
              <a:t>8</a:t>
            </a:r>
            <a:r>
              <a:rPr lang="en-US" sz="1600" spc="-1" smtClean="0">
                <a:solidFill>
                  <a:srgbClr val="000000"/>
                </a:solidFill>
                <a:latin typeface="Gill Sans MT"/>
              </a:rPr>
              <a:t>: Radar Chart </a:t>
            </a:r>
            <a:r>
              <a:rPr kumimoji="0" lang="en-US" sz="1600" i="0" u="none" strike="noStrike" kern="1200" cap="none" spc="-1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of All Model</a:t>
            </a:r>
            <a:endParaRPr kumimoji="0" lang="en-US" sz="200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812" y="1380206"/>
            <a:ext cx="3894375" cy="330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Experimentation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1" y="922006"/>
            <a:ext cx="9143999" cy="42214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lvl="1" indent="-457200">
              <a:buFont typeface="Wingdings" pitchFamily="2" charset="2"/>
              <a:buChar char="q"/>
              <a:defRPr/>
            </a:pPr>
            <a:r>
              <a:rPr lang="en-US" sz="2400" b="1" spc="-1">
                <a:latin typeface="Gill Sans MT"/>
              </a:rPr>
              <a:t>Performance </a:t>
            </a:r>
            <a:r>
              <a:rPr lang="en-US" sz="2400" b="1" spc="-1" smtClean="0">
                <a:latin typeface="Gill Sans MT"/>
              </a:rPr>
              <a:t>Analysis :</a:t>
            </a:r>
            <a:endParaRPr lang="en-IN" sz="2400" b="1" spc="-1">
              <a:latin typeface="Gill Sans MT"/>
            </a:endParaRP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400">
                <a:latin typeface="Gill Sans MT" pitchFamily="34" charset="0"/>
              </a:rPr>
              <a:t>Stacking Ensemble achieved the best overall </a:t>
            </a:r>
            <a:r>
              <a:rPr lang="en-US" sz="2400" smtClean="0">
                <a:latin typeface="Gill Sans MT" pitchFamily="34" charset="0"/>
              </a:rPr>
              <a:t>performance, outperforming </a:t>
            </a:r>
            <a:r>
              <a:rPr lang="en-US" sz="2400">
                <a:latin typeface="Gill Sans MT" pitchFamily="34" charset="0"/>
              </a:rPr>
              <a:t>all individual ML and DL models in Accuracy and F1-Score. </a:t>
            </a:r>
            <a:endParaRPr lang="en-US" sz="2400" smtClean="0">
              <a:latin typeface="Gill Sans MT" pitchFamily="34" charset="0"/>
            </a:endParaRP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400" smtClean="0">
                <a:latin typeface="Gill Sans MT" pitchFamily="34" charset="0"/>
              </a:rPr>
              <a:t>Logistic </a:t>
            </a:r>
            <a:r>
              <a:rPr lang="en-US" sz="2400">
                <a:latin typeface="Gill Sans MT" pitchFamily="34" charset="0"/>
              </a:rPr>
              <a:t>Regression showed the weakest results because phishing URL detection involves complex non-linear patterns that linear models cannot effectively capture. </a:t>
            </a:r>
            <a:endParaRPr lang="en-US" sz="2400" smtClean="0">
              <a:latin typeface="Gill Sans MT" pitchFamily="34" charset="0"/>
            </a:endParaRP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400" smtClean="0">
                <a:latin typeface="Gill Sans MT" pitchFamily="34" charset="0"/>
              </a:rPr>
              <a:t>SVM </a:t>
            </a:r>
            <a:r>
              <a:rPr lang="en-US" sz="2400">
                <a:latin typeface="Gill Sans MT" pitchFamily="34" charset="0"/>
              </a:rPr>
              <a:t>performed well with the RBF kernel, but the Stacking model further improved its performance by combining it with stronger learners through a meta-learner. </a:t>
            </a:r>
            <a:endParaRPr lang="en-US" sz="2400" smtClean="0">
              <a:latin typeface="Gill Sans MT" pitchFamily="34" charset="0"/>
            </a:endParaRPr>
          </a:p>
          <a:p>
            <a:pPr>
              <a:defRPr/>
            </a:pPr>
            <a:endParaRPr lang="en-US" sz="2800" spc="-1">
              <a:latin typeface="Gill Sans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lvl="0">
              <a:spcBef>
                <a:spcPts val="601"/>
              </a:spcBef>
              <a:defRPr/>
            </a:pPr>
            <a:r>
              <a:rPr kumimoji="0" lang="en-US" sz="2800" b="0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                            </a:t>
            </a:r>
            <a:endParaRPr kumimoji="0" lang="en-US" sz="200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571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Experimentation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1" y="922006"/>
            <a:ext cx="9143999" cy="42214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lvl="1" indent="-457200">
              <a:buFont typeface="Wingdings" pitchFamily="2" charset="2"/>
              <a:buChar char="q"/>
              <a:defRPr/>
            </a:pPr>
            <a:r>
              <a:rPr lang="en-US" sz="2400" b="1" spc="-1">
                <a:latin typeface="Gill Sans MT"/>
              </a:rPr>
              <a:t>Performance </a:t>
            </a:r>
            <a:r>
              <a:rPr lang="en-US" sz="2400" b="1" spc="-1" smtClean="0">
                <a:latin typeface="Gill Sans MT"/>
              </a:rPr>
              <a:t>Analysis :</a:t>
            </a:r>
            <a:endParaRPr lang="en-IN" sz="2400" b="1" spc="-1">
              <a:latin typeface="Gill Sans MT"/>
            </a:endParaRP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400" smtClean="0">
                <a:latin typeface="Gill Sans MT" pitchFamily="34" charset="0"/>
              </a:rPr>
              <a:t>ANN </a:t>
            </a:r>
            <a:r>
              <a:rPr lang="en-US" sz="2400">
                <a:latin typeface="Gill Sans MT" pitchFamily="34" charset="0"/>
              </a:rPr>
              <a:t>achieved competitive results, but Stacking still performed better, confirming that ensemble tree-based methods are more effective for structured/tabular phishing datasets. </a:t>
            </a:r>
            <a:endParaRPr lang="en-US" sz="2400" smtClean="0">
              <a:latin typeface="Gill Sans MT" pitchFamily="34" charset="0"/>
            </a:endParaRP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400" smtClean="0">
                <a:latin typeface="Gill Sans MT" pitchFamily="34" charset="0"/>
              </a:rPr>
              <a:t>Random </a:t>
            </a:r>
            <a:r>
              <a:rPr lang="en-US" sz="2400">
                <a:latin typeface="Gill Sans MT" pitchFamily="34" charset="0"/>
              </a:rPr>
              <a:t>Forest and XGBoost were the strongest individual models, contributing significantly as base learners in the Stacking Ensemble. </a:t>
            </a:r>
            <a:endParaRPr lang="en-US" sz="2400" smtClean="0">
              <a:latin typeface="Gill Sans MT" pitchFamily="34" charset="0"/>
            </a:endParaRP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400" smtClean="0">
                <a:latin typeface="Gill Sans MT" pitchFamily="34" charset="0"/>
              </a:rPr>
              <a:t>Stacking </a:t>
            </a:r>
            <a:r>
              <a:rPr lang="en-US" sz="2400">
                <a:latin typeface="Gill Sans MT" pitchFamily="34" charset="0"/>
              </a:rPr>
              <a:t>outperformed Soft Voting Ensemble because it learns optimal model combinations using a Logistic Regression meta-learner instead of simple probability averaging</a:t>
            </a:r>
            <a:r>
              <a:rPr lang="en-US" sz="2800"/>
              <a:t>.</a:t>
            </a:r>
            <a:endParaRPr lang="en-US" sz="2800" spc="-1">
              <a:latin typeface="Gill Sans MT"/>
            </a:endParaRPr>
          </a:p>
          <a:p>
            <a:pPr marL="457200" indent="-457200">
              <a:buFont typeface="Wingdings" pitchFamily="2" charset="2"/>
              <a:buChar char="q"/>
              <a:defRPr/>
            </a:pPr>
            <a:endParaRPr lang="en-US" sz="2800" spc="-1">
              <a:latin typeface="Gill Sans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spc="-1">
              <a:solidFill>
                <a:srgbClr val="000000"/>
              </a:solidFill>
              <a:latin typeface="Gill Sans MT"/>
            </a:endParaRPr>
          </a:p>
          <a:p>
            <a:pPr lvl="0">
              <a:spcBef>
                <a:spcPts val="601"/>
              </a:spcBef>
              <a:defRPr/>
            </a:pPr>
            <a:r>
              <a:rPr kumimoji="0" lang="en-US" sz="2800" b="0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                            </a:t>
            </a:r>
            <a:endParaRPr kumimoji="0" lang="en-US" sz="200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193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A0C863C-C421-2A24-510A-46BB11F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A8544B3C-3745-7F17-3D88-C6AC7A2FBBB1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Conclusion and Future Scope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2B231A21-3973-0F3D-E76C-E46B41FE71A7}"/>
              </a:ext>
            </a:extLst>
          </p:cNvPr>
          <p:cNvSpPr txBox="1"/>
          <p:nvPr/>
        </p:nvSpPr>
        <p:spPr>
          <a:xfrm>
            <a:off x="0" y="1085940"/>
            <a:ext cx="9144000" cy="4057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2400" b="1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Conclusion :</a:t>
            </a:r>
          </a:p>
          <a:p>
            <a:pPr marL="800100" lvl="1" indent="-342900" algn="just">
              <a:spcBef>
                <a:spcPts val="601"/>
              </a:spcBef>
              <a:buFont typeface="Arial" pitchFamily="34" charset="0"/>
              <a:buChar char="•"/>
              <a:defRPr/>
            </a:pPr>
            <a:r>
              <a:rPr lang="en-US" sz="2400">
                <a:latin typeface="Gill Sans MT" pitchFamily="34" charset="0"/>
              </a:rPr>
              <a:t>The </a:t>
            </a:r>
            <a:r>
              <a:rPr lang="en-US" sz="2400" b="1">
                <a:latin typeface="Gill Sans MT" pitchFamily="34" charset="0"/>
              </a:rPr>
              <a:t>Stacking Ensemble model</a:t>
            </a:r>
            <a:r>
              <a:rPr lang="en-US" sz="2400">
                <a:latin typeface="Gill Sans MT" pitchFamily="34" charset="0"/>
              </a:rPr>
              <a:t> achieved the best overall performance with </a:t>
            </a:r>
            <a:r>
              <a:rPr lang="en-US" sz="2400" b="1">
                <a:latin typeface="Gill Sans MT" pitchFamily="34" charset="0"/>
              </a:rPr>
              <a:t>90.95%</a:t>
            </a:r>
            <a:r>
              <a:rPr lang="en-US" sz="2400">
                <a:latin typeface="Gill Sans MT" pitchFamily="34" charset="0"/>
              </a:rPr>
              <a:t> Accuracy and </a:t>
            </a:r>
            <a:r>
              <a:rPr lang="en-US" sz="2400" b="1">
                <a:latin typeface="Gill Sans MT" pitchFamily="34" charset="0"/>
              </a:rPr>
              <a:t>96.08%</a:t>
            </a:r>
            <a:r>
              <a:rPr lang="en-US" sz="2400">
                <a:latin typeface="Gill Sans MT" pitchFamily="34" charset="0"/>
              </a:rPr>
              <a:t> ROC-AUC, outperforming all other models. </a:t>
            </a:r>
            <a:endParaRPr lang="en-US" sz="2400" smtClean="0">
              <a:latin typeface="Gill Sans MT" pitchFamily="34" charset="0"/>
            </a:endParaRPr>
          </a:p>
          <a:p>
            <a:pPr marL="800100" lvl="1" indent="-342900" algn="just">
              <a:spcBef>
                <a:spcPts val="601"/>
              </a:spcBef>
              <a:buFont typeface="Arial" pitchFamily="34" charset="0"/>
              <a:buChar char="•"/>
              <a:defRPr/>
            </a:pPr>
            <a:r>
              <a:rPr lang="en-US" sz="2400" smtClean="0">
                <a:latin typeface="Gill Sans MT" pitchFamily="34" charset="0"/>
              </a:rPr>
              <a:t>The </a:t>
            </a:r>
            <a:r>
              <a:rPr lang="en-US" sz="2400">
                <a:latin typeface="Gill Sans MT" pitchFamily="34" charset="0"/>
              </a:rPr>
              <a:t>project successfully combined preprocessing, SMOTE balancing, feature scaling, and RFE feature selection to build a robust and generalizable phishing detection system. </a:t>
            </a:r>
            <a:endParaRPr lang="en-US" sz="2400" smtClean="0">
              <a:latin typeface="Gill Sans MT" pitchFamily="34" charset="0"/>
            </a:endParaRPr>
          </a:p>
          <a:p>
            <a:pPr marL="800100" lvl="1" indent="-342900" algn="just">
              <a:spcBef>
                <a:spcPts val="601"/>
              </a:spcBef>
              <a:buFont typeface="Arial" pitchFamily="34" charset="0"/>
              <a:buChar char="•"/>
              <a:defRPr/>
            </a:pPr>
            <a:r>
              <a:rPr lang="en-US" sz="2400" smtClean="0">
                <a:latin typeface="Gill Sans MT" pitchFamily="34" charset="0"/>
              </a:rPr>
              <a:t>A </a:t>
            </a:r>
            <a:r>
              <a:rPr lang="en-US" sz="2400">
                <a:latin typeface="Gill Sans MT" pitchFamily="34" charset="0"/>
              </a:rPr>
              <a:t>phishing URL prediction module was developed, capable of classifying URLs as </a:t>
            </a:r>
            <a:r>
              <a:rPr lang="en-US" sz="2400" i="1">
                <a:latin typeface="Gill Sans MT" pitchFamily="34" charset="0"/>
              </a:rPr>
              <a:t>Phishing</a:t>
            </a:r>
            <a:r>
              <a:rPr lang="en-US" sz="2400">
                <a:latin typeface="Gill Sans MT" pitchFamily="34" charset="0"/>
              </a:rPr>
              <a:t> or </a:t>
            </a:r>
            <a:r>
              <a:rPr lang="en-US" sz="2400" i="1">
                <a:latin typeface="Gill Sans MT" pitchFamily="34" charset="0"/>
              </a:rPr>
              <a:t>Legitimate</a:t>
            </a:r>
            <a:r>
              <a:rPr lang="en-US" sz="2400">
                <a:latin typeface="Gill Sans MT" pitchFamily="34" charset="0"/>
              </a:rPr>
              <a:t>, making it suitable for practical cybersecurity applications.</a:t>
            </a:r>
            <a:endParaRPr kumimoji="0" lang="en-US" sz="240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itchFamily="34" charset="0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1E646920-2BA3-24E7-7837-F09BDE116DC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D2A02815-AF57-59B6-A150-19EF68B8681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404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A0C863C-C421-2A24-510A-46BB11F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A8544B3C-3745-7F17-3D88-C6AC7A2FBBB1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Conclusion and Future Scope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2B231A21-3973-0F3D-E76C-E46B41FE71A7}"/>
              </a:ext>
            </a:extLst>
          </p:cNvPr>
          <p:cNvSpPr txBox="1"/>
          <p:nvPr/>
        </p:nvSpPr>
        <p:spPr>
          <a:xfrm>
            <a:off x="0" y="915566"/>
            <a:ext cx="9144000" cy="424847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2800" b="1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Future</a:t>
            </a:r>
            <a:r>
              <a:rPr kumimoji="0" lang="en-US" sz="2800" b="1" i="0" u="none" strike="noStrike" kern="1200" cap="none" spc="-1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Scope</a:t>
            </a:r>
            <a:r>
              <a:rPr kumimoji="0" lang="en-US" sz="2400" b="1" i="0" u="none" strike="noStrike" kern="1200" cap="none" spc="-1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:</a:t>
            </a:r>
          </a:p>
          <a:p>
            <a:pPr marL="800100" lvl="1" indent="-342900" algn="just">
              <a:spcBef>
                <a:spcPts val="601"/>
              </a:spcBef>
              <a:buFont typeface="Arial" pitchFamily="34" charset="0"/>
              <a:buChar char="•"/>
              <a:defRPr/>
            </a:pPr>
            <a:r>
              <a:rPr lang="en-US" sz="2400" b="1">
                <a:latin typeface="Gill Sans MT" pitchFamily="34" charset="0"/>
              </a:rPr>
              <a:t>Real-Time Browser </a:t>
            </a:r>
            <a:r>
              <a:rPr lang="en-US" sz="2400" b="1" smtClean="0">
                <a:latin typeface="Gill Sans MT" pitchFamily="34" charset="0"/>
              </a:rPr>
              <a:t>Extension </a:t>
            </a:r>
            <a:r>
              <a:rPr lang="en-US" sz="2400" smtClean="0"/>
              <a:t>:</a:t>
            </a:r>
          </a:p>
          <a:p>
            <a:pPr marL="1257300" lvl="2" indent="-342900" algn="just">
              <a:spcBef>
                <a:spcPts val="601"/>
              </a:spcBef>
              <a:buFont typeface="Wingdings" pitchFamily="2" charset="2"/>
              <a:buChar char="Ø"/>
              <a:defRPr/>
            </a:pPr>
            <a:r>
              <a:rPr lang="en-US" sz="2400"/>
              <a:t> </a:t>
            </a:r>
            <a:r>
              <a:rPr lang="en-US" sz="2200">
                <a:latin typeface="Gill Sans MT" pitchFamily="34" charset="0"/>
              </a:rPr>
              <a:t>Integrate the phishing detection model into Chrome/Firefox extensions for instant URL safety warnings.</a:t>
            </a:r>
            <a:r>
              <a:rPr lang="en-US" sz="2400"/>
              <a:t>      </a:t>
            </a:r>
          </a:p>
          <a:p>
            <a:pPr marL="800100" lvl="1" indent="-342900" algn="just">
              <a:spcBef>
                <a:spcPts val="601"/>
              </a:spcBef>
              <a:buFont typeface="Arial" pitchFamily="34" charset="0"/>
              <a:buChar char="•"/>
              <a:defRPr/>
            </a:pPr>
            <a:r>
              <a:rPr lang="en-US" sz="2400" b="1">
                <a:latin typeface="Gill Sans MT" pitchFamily="34" charset="0"/>
              </a:rPr>
              <a:t>Enhanced Dataset Collection</a:t>
            </a:r>
            <a:r>
              <a:rPr kumimoji="0" lang="en-US" sz="2400" b="1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</a:rPr>
              <a:t> </a:t>
            </a:r>
            <a:r>
              <a:rPr kumimoji="0" lang="en-US" sz="2400" b="1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:</a:t>
            </a:r>
          </a:p>
          <a:p>
            <a:pPr marL="1257300" lvl="2" indent="-342900" algn="just">
              <a:spcBef>
                <a:spcPts val="601"/>
              </a:spcBef>
              <a:buFont typeface="Wingdings" pitchFamily="2" charset="2"/>
              <a:buChar char="Ø"/>
              <a:defRPr/>
            </a:pPr>
            <a:r>
              <a:rPr lang="en-US" sz="2400">
                <a:latin typeface="Gill Sans MT" pitchFamily="34" charset="0"/>
              </a:rPr>
              <a:t>Train the model using larger and diverse real-world phishing datasets from platforms like PhishTank and OpenPhish.</a:t>
            </a:r>
            <a:endParaRPr kumimoji="0" lang="en-US" sz="2400" b="1" i="0" u="none" strike="noStrike" kern="1200" cap="none" spc="-1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itchFamily="34" charset="0"/>
            </a:endParaRPr>
          </a:p>
          <a:p>
            <a:pPr marL="800100" lvl="1" indent="-342900" algn="just">
              <a:spcBef>
                <a:spcPts val="601"/>
              </a:spcBef>
              <a:buFont typeface="Arial" pitchFamily="34" charset="0"/>
              <a:buChar char="•"/>
              <a:defRPr/>
            </a:pPr>
            <a:r>
              <a:rPr lang="en-US" sz="2400" b="1">
                <a:latin typeface="Gill Sans MT" pitchFamily="34" charset="0"/>
              </a:rPr>
              <a:t>Continuous Model Updating</a:t>
            </a:r>
            <a:r>
              <a:rPr lang="en-US" sz="2400"/>
              <a:t> </a:t>
            </a:r>
            <a:r>
              <a:rPr lang="en-US" sz="2400" b="1" spc="-1" smtClean="0">
                <a:solidFill>
                  <a:srgbClr val="000000"/>
                </a:solidFill>
                <a:latin typeface="Gill Sans MT"/>
              </a:rPr>
              <a:t>:</a:t>
            </a:r>
          </a:p>
          <a:p>
            <a:pPr marL="1257300" lvl="2" indent="-342900" algn="just">
              <a:spcBef>
                <a:spcPts val="601"/>
              </a:spcBef>
              <a:buFont typeface="Wingdings" pitchFamily="2" charset="2"/>
              <a:buChar char="Ø"/>
              <a:defRPr/>
            </a:pPr>
            <a:r>
              <a:rPr lang="en-US" sz="2200">
                <a:latin typeface="Gill Sans MT" pitchFamily="34" charset="0"/>
              </a:rPr>
              <a:t>Implement periodic retraining mechanisms to adapt to evolving phishing techniques and zero-day attacks.</a:t>
            </a:r>
            <a:endParaRPr kumimoji="0" lang="en-US" sz="2200" b="1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itchFamily="34" charset="0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1E646920-2BA3-24E7-7837-F09BDE116DC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D2A02815-AF57-59B6-A150-19EF68B8681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208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A0C863C-C421-2A24-510A-46BB11F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="" xmlns:a16="http://schemas.microsoft.com/office/drawing/2014/main" id="{A8544B3C-3745-7F17-3D88-C6AC7A2FBBB1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 smtClean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Conclusion and Future Scope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="" xmlns:a16="http://schemas.microsoft.com/office/drawing/2014/main" id="{2B231A21-3973-0F3D-E76C-E46B41FE71A7}"/>
              </a:ext>
            </a:extLst>
          </p:cNvPr>
          <p:cNvSpPr txBox="1"/>
          <p:nvPr/>
        </p:nvSpPr>
        <p:spPr>
          <a:xfrm>
            <a:off x="0" y="915566"/>
            <a:ext cx="9144000" cy="422793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2800" b="1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Future</a:t>
            </a:r>
            <a:r>
              <a:rPr kumimoji="0" lang="en-US" sz="2800" b="1" i="0" u="none" strike="noStrike" kern="1200" cap="none" spc="-1" normalizeH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Scope </a:t>
            </a:r>
            <a:r>
              <a:rPr kumimoji="0" lang="en-US" sz="2400" b="1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:</a:t>
            </a:r>
          </a:p>
          <a:p>
            <a:pPr marL="800100" lvl="1" indent="-342900" algn="just">
              <a:spcBef>
                <a:spcPts val="601"/>
              </a:spcBef>
              <a:buFont typeface="Arial" pitchFamily="34" charset="0"/>
              <a:buChar char="•"/>
              <a:defRPr/>
            </a:pPr>
            <a:r>
              <a:rPr lang="en-US" sz="2400" b="1">
                <a:latin typeface="Gill Sans MT" pitchFamily="34" charset="0"/>
              </a:rPr>
              <a:t>Website Content Analysis</a:t>
            </a:r>
            <a:r>
              <a:rPr lang="en-US" sz="2400"/>
              <a:t> </a:t>
            </a:r>
            <a:r>
              <a:rPr lang="en-US" sz="2400" b="1"/>
              <a:t>:</a:t>
            </a:r>
          </a:p>
          <a:p>
            <a:pPr marL="1257300" lvl="2" indent="-342900" algn="just">
              <a:spcBef>
                <a:spcPts val="601"/>
              </a:spcBef>
              <a:buFont typeface="Wingdings" pitchFamily="2" charset="2"/>
              <a:buChar char="Ø"/>
              <a:defRPr/>
            </a:pPr>
            <a:r>
              <a:rPr lang="en-US" sz="2400"/>
              <a:t> </a:t>
            </a:r>
            <a:r>
              <a:rPr lang="en-US" sz="2200">
                <a:latin typeface="Gill Sans MT" pitchFamily="34" charset="0"/>
              </a:rPr>
              <a:t>Incorporate HTML structure and webpage similarity analysis for improved phishing detection accuracy.</a:t>
            </a:r>
          </a:p>
          <a:p>
            <a:pPr marL="800100" lvl="1" indent="-342900" algn="just">
              <a:spcBef>
                <a:spcPts val="601"/>
              </a:spcBef>
              <a:buFont typeface="Arial" pitchFamily="34" charset="0"/>
              <a:buChar char="•"/>
              <a:defRPr/>
            </a:pPr>
            <a:r>
              <a:rPr lang="en-US" sz="2400" b="1">
                <a:latin typeface="Gill Sans MT" pitchFamily="34" charset="0"/>
              </a:rPr>
              <a:t>Cloud-Based Deployment </a:t>
            </a:r>
            <a:r>
              <a:rPr kumimoji="0" lang="en-US" sz="2400" b="1" i="0" u="none" strike="noStrike" kern="1200" cap="none" spc="-1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itchFamily="34" charset="0"/>
              </a:rPr>
              <a:t>:</a:t>
            </a:r>
          </a:p>
          <a:p>
            <a:pPr marL="1257300" lvl="2" indent="-342900" algn="just">
              <a:spcBef>
                <a:spcPts val="601"/>
              </a:spcBef>
              <a:buFont typeface="Wingdings" pitchFamily="2" charset="2"/>
              <a:buChar char="Ø"/>
              <a:defRPr/>
            </a:pPr>
            <a:r>
              <a:rPr lang="en-US" sz="2200">
                <a:latin typeface="Gill Sans MT" pitchFamily="34" charset="0"/>
              </a:rPr>
              <a:t>Deploy the model as a scalable cloud-based cybersecurity service for enterprise-level protection.</a:t>
            </a:r>
            <a:r>
              <a:rPr lang="en-US" sz="2400">
                <a:latin typeface="Gill Sans MT" pitchFamily="34" charset="0"/>
              </a:rPr>
              <a:t> </a:t>
            </a:r>
            <a:endParaRPr lang="en-US" sz="2400" smtClean="0">
              <a:latin typeface="Gill Sans MT" pitchFamily="34" charset="0"/>
            </a:endParaRPr>
          </a:p>
          <a:p>
            <a:pPr marL="800100" lvl="1" indent="-342900" algn="just">
              <a:spcBef>
                <a:spcPts val="601"/>
              </a:spcBef>
              <a:buFont typeface="Arial" pitchFamily="34" charset="0"/>
              <a:buChar char="•"/>
              <a:defRPr/>
            </a:pPr>
            <a:r>
              <a:rPr lang="en-US" sz="2400" b="1">
                <a:latin typeface="Gill Sans MT" pitchFamily="34" charset="0"/>
              </a:rPr>
              <a:t>Multi-Class Threat Classification </a:t>
            </a:r>
            <a:r>
              <a:rPr lang="en-US" sz="2400" b="1" spc="-1" smtClean="0">
                <a:solidFill>
                  <a:srgbClr val="000000"/>
                </a:solidFill>
                <a:latin typeface="Gill Sans MT" pitchFamily="34" charset="0"/>
              </a:rPr>
              <a:t>:</a:t>
            </a:r>
          </a:p>
          <a:p>
            <a:pPr marL="1257300" lvl="2" indent="-342900" algn="just">
              <a:spcBef>
                <a:spcPts val="601"/>
              </a:spcBef>
              <a:buFont typeface="Wingdings" pitchFamily="2" charset="2"/>
              <a:buChar char="Ø"/>
              <a:defRPr/>
            </a:pPr>
            <a:r>
              <a:rPr lang="en-US" sz="2200">
                <a:latin typeface="Gill Sans MT" pitchFamily="34" charset="0"/>
              </a:rPr>
              <a:t>Extend binary classification to identify multiple cyber threats such as phishing, spam, malicious redirects, and fake login pages.</a:t>
            </a:r>
            <a:endParaRPr kumimoji="0" lang="en-US" sz="2200" b="1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itchFamily="34" charset="0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="" xmlns:a16="http://schemas.microsoft.com/office/drawing/2014/main" id="{1E646920-2BA3-24E7-7837-F09BDE116DC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="" xmlns:a16="http://schemas.microsoft.com/office/drawing/2014/main" id="{D2A02815-AF57-59B6-A150-19EF68B8681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095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042" y="433576"/>
            <a:ext cx="8433366" cy="553998"/>
          </a:xfrm>
        </p:spPr>
        <p:txBody>
          <a:bodyPr/>
          <a:lstStyle/>
          <a:p>
            <a:r>
              <a:rPr lang="en-IN" sz="2800" b="1" spc="-1" dirty="0">
                <a:solidFill>
                  <a:srgbClr val="572314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References</a:t>
            </a:r>
            <a:endParaRPr lang="en-US" sz="2800" b="1" spc="-1" dirty="0">
              <a:solidFill>
                <a:srgbClr val="572314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DB1D6590-7914-C880-B4E9-BB48721B5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822322"/>
              </p:ext>
            </p:extLst>
          </p:nvPr>
        </p:nvGraphicFramePr>
        <p:xfrm>
          <a:off x="683568" y="987574"/>
          <a:ext cx="7920880" cy="3861272"/>
        </p:xfrm>
        <a:graphic>
          <a:graphicData uri="http://schemas.openxmlformats.org/drawingml/2006/table">
            <a:tbl>
              <a:tblPr firstRow="1" firstCol="1" bandRow="1"/>
              <a:tblGrid>
                <a:gridCol w="360040">
                  <a:extLst>
                    <a:ext uri="{9D8B030D-6E8A-4147-A177-3AD203B41FA5}">
                      <a16:colId xmlns="" xmlns:a16="http://schemas.microsoft.com/office/drawing/2014/main" val="4143303669"/>
                    </a:ext>
                  </a:extLst>
                </a:gridCol>
                <a:gridCol w="7560840">
                  <a:extLst>
                    <a:ext uri="{9D8B030D-6E8A-4147-A177-3AD203B41FA5}">
                      <a16:colId xmlns="" xmlns:a16="http://schemas.microsoft.com/office/drawing/2014/main" val="2032625208"/>
                    </a:ext>
                  </a:extLst>
                </a:gridCol>
              </a:tblGrid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smtClean="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smtClean="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kern="10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smtClean="0">
                          <a:latin typeface="Gill Sans MT" pitchFamily="34" charset="0"/>
                        </a:rPr>
                        <a:t>N. Tabassum, F. F. Neha, M. S. Hossain, and H. S. Narman,“A hybrid machine learning-based phishing website detection technique through dimensionality reduction,”in Proc. IEEE Int. Black Sea Conf. Commun. Netw. (BlackSeaCom), 2021.</a:t>
                      </a:r>
                      <a:endParaRPr lang="en-IN" sz="1400" kern="100" dirty="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4540974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[2]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smtClean="0">
                          <a:latin typeface="Gill Sans MT" pitchFamily="34" charset="0"/>
                        </a:rPr>
                        <a:t>S. D. Gupta, K. T. Shahriar, H. Alqahtani, D. Alsalman, and I. H. Sarker,“Modeling hybrid feature-based phishing websites detection using machine learning techniques,”Annals of Data Science, 2022.</a:t>
                      </a:r>
                      <a:endParaRPr lang="en-IN" sz="1400" kern="100" dirty="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08956124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[3]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smtClean="0">
                          <a:latin typeface="Gill Sans MT" pitchFamily="34" charset="0"/>
                        </a:rPr>
                        <a:t>M. M. Raj and J. A. A. Jothi,“Hybrid approach for phishing website detection using classification algorithms,”PARADIGM Plus, vol. 3, no. 3, pp. 16–29, 2022.</a:t>
                      </a:r>
                      <a:endParaRPr lang="en-IN" sz="1400" kern="10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0742911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[4]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smtClean="0">
                          <a:latin typeface="Gill Sans MT" pitchFamily="34" charset="0"/>
                        </a:rPr>
                        <a:t>R. Pal, M. K. Pandey, S. Pal, and D. C. Yadav,“Phishing detection: A hybrid model with feature selection and machine learning techniques,”Int. J. Exp. Res. Rev., vol. 36, pp. 99–108, 2023.</a:t>
                      </a:r>
                      <a:endParaRPr lang="en-IN" sz="1400" kern="100" dirty="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5362688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[5]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smtClean="0">
                          <a:latin typeface="Gill Sans MT" pitchFamily="34" charset="0"/>
                        </a:rPr>
                        <a:t>S. Kavya and D. Sumathi,“Design of a hybrid AI-based phishing website detection using LSTM, CNN, and random forest-based ensemble learning analysis,”in Proc. 8th Int. Conf. Electron., Commun. Aerosp. Technol. (ICECA), 2024.</a:t>
                      </a:r>
                      <a:endParaRPr lang="en-IN" sz="1400" kern="100" dirty="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6634492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smtClean="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[6]</a:t>
                      </a:r>
                      <a:endParaRPr lang="en-IN" sz="1400" kern="10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mtClean="0">
                          <a:latin typeface="Gill Sans MT" pitchFamily="34" charset="0"/>
                        </a:rPr>
                        <a:t>K. Rangaswamy, S. Khaleel, N. Pradeep, K. S. S. R. Krishna, and J. V. Charan,“Phishing website detection using machine learning and deep learning techniques,”Power System Technology, 2025.</a:t>
                      </a:r>
                      <a:endParaRPr lang="en-IN" sz="1400" kern="100" dirty="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9655069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67494"/>
            <a:ext cx="8433366" cy="553998"/>
          </a:xfrm>
        </p:spPr>
        <p:txBody>
          <a:bodyPr/>
          <a:lstStyle/>
          <a:p>
            <a:r>
              <a:rPr lang="en-IN" sz="2800" b="1" spc="-1" dirty="0">
                <a:solidFill>
                  <a:srgbClr val="572314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References</a:t>
            </a:r>
            <a:endParaRPr lang="en-US" sz="2800" b="1" spc="-1" dirty="0">
              <a:solidFill>
                <a:srgbClr val="572314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DB1D6590-7914-C880-B4E9-BB48721B5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811829"/>
              </p:ext>
            </p:extLst>
          </p:nvPr>
        </p:nvGraphicFramePr>
        <p:xfrm>
          <a:off x="683568" y="771550"/>
          <a:ext cx="7920880" cy="4277732"/>
        </p:xfrm>
        <a:graphic>
          <a:graphicData uri="http://schemas.openxmlformats.org/drawingml/2006/table">
            <a:tbl>
              <a:tblPr firstRow="1" firstCol="1" bandRow="1"/>
              <a:tblGrid>
                <a:gridCol w="504056">
                  <a:extLst>
                    <a:ext uri="{9D8B030D-6E8A-4147-A177-3AD203B41FA5}">
                      <a16:colId xmlns="" xmlns:a16="http://schemas.microsoft.com/office/drawing/2014/main" val="4143303669"/>
                    </a:ext>
                  </a:extLst>
                </a:gridCol>
                <a:gridCol w="7416824">
                  <a:extLst>
                    <a:ext uri="{9D8B030D-6E8A-4147-A177-3AD203B41FA5}">
                      <a16:colId xmlns="" xmlns:a16="http://schemas.microsoft.com/office/drawing/2014/main" val="2032625208"/>
                    </a:ext>
                  </a:extLst>
                </a:gridCol>
              </a:tblGrid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smtClean="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[7] </a:t>
                      </a:r>
                      <a:endParaRPr lang="en-IN" sz="1400" kern="10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mtClean="0">
                          <a:latin typeface="Gill Sans MT" pitchFamily="34" charset="0"/>
                        </a:rPr>
                        <a:t>K. P. Sankar and P. B. Naidu,“URL-based phishing detection using a hybrid machine learning model,”Industrial Engineering Journal, vol. 54, no. 5, May 2025.</a:t>
                      </a:r>
                      <a:endParaRPr lang="en-IN" sz="1400" kern="100" smtClean="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4540974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smtClean="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[8] </a:t>
                      </a:r>
                      <a:endParaRPr lang="en-IN" sz="1400" kern="10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mtClean="0">
                          <a:latin typeface="Gill Sans MT" pitchFamily="34" charset="0"/>
                        </a:rPr>
                        <a:t>A. Jadhav and P. Chandre,“A hybrid heuristic-machine learning framework for phishing detection using multi-domain feature analysis,”Engineering, Technology &amp; Applied Science Research, vol. 15, no. 5, pp. 27219–27226, Oct. 2025.</a:t>
                      </a:r>
                      <a:endParaRPr lang="en-IN" sz="1400" kern="100" smtClean="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08956124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smtClean="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[9] </a:t>
                      </a:r>
                      <a:endParaRPr lang="en-IN" sz="1400" kern="10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mtClean="0">
                          <a:latin typeface="Gill Sans MT" pitchFamily="34" charset="0"/>
                        </a:rPr>
                        <a:t>S. S. Wakchaure, J. S. Kale, S. R. Dange, and G. S. Wakchaure,“Phishing website detection using hybrid machine learning and feature optimization techniques,”Industrial Engineering Journal, vol. 54, no. 11, Nov. 2025.</a:t>
                      </a:r>
                      <a:endParaRPr lang="en-IN" sz="1400" kern="100" smtClean="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0742911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smtClean="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[10] </a:t>
                      </a:r>
                      <a:endParaRPr lang="en-IN" sz="1400" kern="10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smtClean="0">
                          <a:latin typeface="Gill Sans MT" pitchFamily="34" charset="0"/>
                        </a:rPr>
                        <a:t>R. Ghadami and J. Rahebi,“An explainable hybrid deep learning-optimization framework for robust phishing attack detection using GAN and transformer-based feature learning,”Ain Shams Engineering Journal, vol. 16, Art. no. 103745, Dec. 2025.</a:t>
                      </a:r>
                      <a:endParaRPr lang="en-IN" sz="1400" kern="100" dirty="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53626885"/>
                  </a:ext>
                </a:extLst>
              </a:tr>
              <a:tr h="62739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smtClean="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[11]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smtClean="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400" kern="10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smtClean="0"/>
                        <a:t>P. Ahirwar and A. Shrivastava, "Phishing website detection: A systematic review of URL-based and deep learning approaches," </a:t>
                      </a:r>
                      <a:r>
                        <a:rPr lang="en-US" sz="1400" i="1" smtClean="0"/>
                        <a:t>International Journal of Innovations in Science Engineering and Management</a:t>
                      </a:r>
                      <a:r>
                        <a:rPr lang="en-US" sz="1400" smtClean="0"/>
                        <a:t>, vol. 5, no. 2, pp. 29–37, Apr. 2026.</a:t>
                      </a:r>
                      <a:endParaRPr lang="en-IN" sz="1400" kern="100" dirty="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66344927"/>
                  </a:ext>
                </a:extLst>
              </a:tr>
              <a:tr h="6130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smtClean="0">
                          <a:effectLst/>
                          <a:latin typeface="Gill Sans MT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[12]</a:t>
                      </a:r>
                      <a:endParaRPr lang="en-IN" sz="1400" kern="100">
                        <a:effectLst/>
                        <a:latin typeface="Gill Sans MT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smtClean="0"/>
                        <a:t>A. Sravanthi, A. A. Kousar, A. R. Dabole, G. J. G, and S. Elango, "Hybrid AI for phishing site detection," </a:t>
                      </a:r>
                      <a:r>
                        <a:rPr lang="en-US" sz="1400" i="1" smtClean="0"/>
                        <a:t>International Research Journal of Modernization in Engineering Technology and Science</a:t>
                      </a:r>
                      <a:r>
                        <a:rPr lang="en-US" sz="1400" smtClean="0"/>
                        <a:t>, vol. 8, no. 4, pp. 10446–10453, Apr. 2026.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96550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50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37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26" name="Picture 2"/>
          <p:cNvPicPr/>
          <p:nvPr/>
        </p:nvPicPr>
        <p:blipFill>
          <a:blip r:embed="rId2" cstate="print"/>
          <a:stretch/>
        </p:blipFill>
        <p:spPr>
          <a:xfrm>
            <a:off x="1763640" y="1778220"/>
            <a:ext cx="6049800" cy="2215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8.jpeg"/></Relationships>
</file>

<file path=ppt/theme/theme1.xml><?xml version="1.0" encoding="utf-8"?>
<a:theme xmlns:a="http://schemas.openxmlformats.org/drawingml/2006/main" name="Minimalist Aesthetics Business Plan XL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 - PresentationGO">
  <a:themeElements>
    <a:clrScheme name="PGO-105">
      <a:dk1>
        <a:srgbClr val="2B323B"/>
      </a:dk1>
      <a:lt1>
        <a:sysClr val="window" lastClr="FFFFFF"/>
      </a:lt1>
      <a:dk2>
        <a:srgbClr val="5D686E"/>
      </a:dk2>
      <a:lt2>
        <a:srgbClr val="E7E6E6"/>
      </a:lt2>
      <a:accent1>
        <a:srgbClr val="33CAFF"/>
      </a:accent1>
      <a:accent2>
        <a:srgbClr val="4C8BFD"/>
      </a:accent2>
      <a:accent3>
        <a:srgbClr val="F6F7FC"/>
      </a:accent3>
      <a:accent4>
        <a:srgbClr val="BFCBD9"/>
      </a:accent4>
      <a:accent5>
        <a:srgbClr val="4C8BFD"/>
      </a:accent5>
      <a:accent6>
        <a:srgbClr val="4C8BFD"/>
      </a:accent6>
      <a:hlink>
        <a:srgbClr val="33CAFF"/>
      </a:hlink>
      <a:folHlink>
        <a:srgbClr val="33CA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0105_T_PGO_XXX-4_3" id="{12A9651B-B69D-4074-B168-9BA4D48989F5}" vid="{78B1EDBC-4A95-4303-94E3-B14C14EBEA23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0105_T_PGO_XXX-4_3" id="{12A9651B-B69D-4074-B168-9BA4D48989F5}" vid="{8E044A80-51C6-4156-9123-ACBB6F9A67F4}"/>
    </a:ext>
  </a:extLst>
</a:theme>
</file>

<file path=ppt/theme/theme6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3963</TotalTime>
  <Words>3357</Words>
  <Application>Microsoft Office PowerPoint</Application>
  <PresentationFormat>On-screen Show (16:9)</PresentationFormat>
  <Paragraphs>561</Paragraphs>
  <Slides>37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Minimalist Aesthetics Business Plan XL by Slidesgo</vt:lpstr>
      <vt:lpstr>Slidesgo Final Pages</vt:lpstr>
      <vt:lpstr>1_Slidesgo Final Pages</vt:lpstr>
      <vt:lpstr>1_Custom Design - PresentationGO</vt:lpstr>
      <vt:lpstr>Custom Design</vt:lpstr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BARNALI SAHU</dc:creator>
  <cp:lastModifiedBy>dell</cp:lastModifiedBy>
  <cp:revision>114</cp:revision>
  <dcterms:created xsi:type="dcterms:W3CDTF">2023-04-24T05:50:18Z</dcterms:created>
  <dcterms:modified xsi:type="dcterms:W3CDTF">2026-05-27T04:47:16Z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